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2" r:id="rId2"/>
    <p:sldId id="303" r:id="rId3"/>
    <p:sldId id="315" r:id="rId4"/>
    <p:sldId id="282" r:id="rId5"/>
    <p:sldId id="316" r:id="rId6"/>
    <p:sldId id="284" r:id="rId7"/>
    <p:sldId id="285" r:id="rId8"/>
    <p:sldId id="287" r:id="rId9"/>
    <p:sldId id="286" r:id="rId10"/>
    <p:sldId id="314" r:id="rId11"/>
    <p:sldId id="272" r:id="rId12"/>
    <p:sldId id="2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7DCC"/>
    <a:srgbClr val="5A0EE2"/>
    <a:srgbClr val="CEEDF2"/>
    <a:srgbClr val="FFCB37"/>
    <a:srgbClr val="0563C1"/>
    <a:srgbClr val="CFEBF7"/>
    <a:srgbClr val="FFD96D"/>
    <a:srgbClr val="FE9844"/>
    <a:srgbClr val="74C4B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BEE4EC-AF89-4DC5-8AAB-B78FD371A944}" v="33" dt="2024-05-13T04:08:46.3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13" autoAdjust="0"/>
    <p:restoredTop sz="94660"/>
  </p:normalViewPr>
  <p:slideViewPr>
    <p:cSldViewPr snapToGrid="0">
      <p:cViewPr varScale="1">
        <p:scale>
          <a:sx n="82" d="100"/>
          <a:sy n="82" d="100"/>
        </p:scale>
        <p:origin x="74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3A114-B772-6C71-382D-29139F5DA0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DE2498-3431-3054-71D4-3FC1B86B9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8069A-D076-D96E-9893-B01FCAFA8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16812-A109-442A-9056-B94B7E1418D8}" type="datetimeFigureOut">
              <a:rPr lang="en-IN" smtClean="0"/>
              <a:t>18-05-2024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BCCDF-D0C8-29F4-3483-E37B8BE70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7143E-87B0-C710-24E2-CBFD19BC6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6438E-AB61-4CE8-B498-6DB41E9141A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7557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B44D6-6475-204C-A6C6-8DCF8E25A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0295B-A8ED-2B47-E39D-E5594E366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F5D5A-238E-6D27-8C79-C774A8366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16812-A109-442A-9056-B94B7E1418D8}" type="datetimeFigureOut">
              <a:rPr lang="en-IN" smtClean="0"/>
              <a:t>18-05-2024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95064-FF0B-28EE-4A60-E7F7DBBD9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B7B91-E93D-FCE9-26C8-DEC25165E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6438E-AB61-4CE8-B498-6DB41E9141A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228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81672-4B67-2276-5F44-2FE56E742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8E17E-B3DB-C92B-A9DB-2D44C4999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9A19D-7FA2-0F9C-02AE-572D5458B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16812-A109-442A-9056-B94B7E1418D8}" type="datetimeFigureOut">
              <a:rPr lang="en-IN" smtClean="0"/>
              <a:t>18-05-2024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B05A5-FA57-A580-5119-EC37548F0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29280-D61B-834F-6C8C-08A65CB11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6438E-AB61-4CE8-B498-6DB41E9141A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335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7247D-1DB5-1511-44D4-22654AB51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8464F-5EAA-CECD-8F1E-B0DA50AE54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42C49-9179-229A-BA88-FC329ADCBB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13024D-9B70-EECD-08F9-8B51596A6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16812-A109-442A-9056-B94B7E1418D8}" type="datetimeFigureOut">
              <a:rPr lang="en-IN" smtClean="0"/>
              <a:t>18-05-2024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6E3E09-9ADF-20F0-26DB-6B39899AD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0FC35-582F-2F29-CC89-BBA9FA99E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6438E-AB61-4CE8-B498-6DB41E9141A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4268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6F233-7DF3-0D6D-51CD-0622D21FF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57E49-CE49-F12D-0A16-7044ECACE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C2E772-8370-3E5B-E11E-5840A090F2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EEF869-51A8-AB52-9861-B5EAB3156A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27725A-F533-B576-420E-EB430D2C78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347C48-8D47-35D8-007D-D455D056A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16812-A109-442A-9056-B94B7E1418D8}" type="datetimeFigureOut">
              <a:rPr lang="en-IN" smtClean="0"/>
              <a:t>18-05-2024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608DD1-0323-94EE-72FC-9FC7EA4FD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E638CA-C4A9-D3D6-8D63-66C60AFC2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6438E-AB61-4CE8-B498-6DB41E9141A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0827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814C6-FAE9-C360-A17E-04F5DB730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408873-ECA1-0546-5842-3805E7FD9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16812-A109-442A-9056-B94B7E1418D8}" type="datetimeFigureOut">
              <a:rPr lang="en-IN" smtClean="0"/>
              <a:t>18-05-2024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0CFAB3-42D4-730A-2CD2-E0F21ED43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9F275D-7C57-543C-1F0F-E0C009172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6438E-AB61-4CE8-B498-6DB41E9141A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5382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A463A2-0927-06CE-2525-C2295A033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16812-A109-442A-9056-B94B7E1418D8}" type="datetimeFigureOut">
              <a:rPr lang="en-IN" smtClean="0"/>
              <a:t>18-05-2024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D12ECD-BA63-B504-A79A-7238C8B90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3F71A-EE14-772C-9AB8-2B19A6E6F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6438E-AB61-4CE8-B498-6DB41E9141A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4390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31064-6D28-918C-3915-91107CD91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0E8D0-430B-10CB-BBFC-EB7CF7FD1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B4409-3F7A-7BB6-F31E-997CC2F53B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92C38-E8DB-6B4A-9B34-047E0F049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16812-A109-442A-9056-B94B7E1418D8}" type="datetimeFigureOut">
              <a:rPr lang="en-IN" smtClean="0"/>
              <a:t>18-05-2024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5592A1-DC48-F22B-81BC-8073F110D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267ED-E32B-79F1-E196-ACEBE4BE6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6438E-AB61-4CE8-B498-6DB41E9141A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5330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8E200-50DA-6C0A-7B41-800A87E1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EA12A0-AC80-D12D-92FB-869FD82A22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86604-2FE0-DC07-4FEA-23CC122030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FBDE1A-7FD5-7060-EA92-55CDCA1E8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16812-A109-442A-9056-B94B7E1418D8}" type="datetimeFigureOut">
              <a:rPr lang="en-IN" smtClean="0"/>
              <a:t>18-05-2024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A7704D-B462-9D23-AB1E-3C6B0CEB7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6D5DD7-27BA-AB21-147C-6582DE342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6438E-AB61-4CE8-B498-6DB41E9141A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361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57792-989C-BED9-8B47-C583BB9C5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0F2F32-BEB2-8FC3-748D-7D6DB7DC88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2A549-1091-1A58-5769-7221CC673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16812-A109-442A-9056-B94B7E1418D8}" type="datetimeFigureOut">
              <a:rPr lang="en-IN" smtClean="0"/>
              <a:t>18-05-2024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8865F-DD63-1814-5FCB-50C39BB08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FC0CA-DC26-8ABB-459B-45F139AA5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6438E-AB61-4CE8-B498-6DB41E9141A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4773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4DDBD8-3786-2A0D-A179-1852625B7B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14ECA1-E98C-6EE1-113C-B994572012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8D6A4-90A9-7D76-F694-BF9E2B1D8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16812-A109-442A-9056-B94B7E1418D8}" type="datetimeFigureOut">
              <a:rPr lang="en-IN" smtClean="0"/>
              <a:t>18-05-2024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BAEE7-D6ED-6311-48EF-A9715E96E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F031E-5CD0-4D0F-6E6C-02B40BCBF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6438E-AB61-4CE8-B498-6DB41E9141A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2586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4049D6-71BE-5427-4F67-E8A8E8DF4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3BD984-2423-915E-76F1-412EE1281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3B119-816A-984B-5DD5-15A56590F1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F16812-A109-442A-9056-B94B7E1418D8}" type="datetimeFigureOut">
              <a:rPr lang="en-IN" smtClean="0"/>
              <a:t>18-05-2024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458C9-E6E1-C959-A26A-B0E185346E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5DAAE-478B-7311-0FC7-0AD11B24CA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D6438E-AB61-4CE8-B498-6DB41E9141A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3127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png"/><Relationship Id="rId7" Type="http://schemas.microsoft.com/office/2007/relationships/hdphoto" Target="../media/hdphoto1.wdp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microsoft.com/office/2007/relationships/hdphoto" Target="../media/hdphoto1.wdp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microsoft.com/office/2007/relationships/hdphoto" Target="../media/hdphoto4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microsoft.com/office/2007/relationships/hdphoto" Target="../media/hdphoto3.wdp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microsoft.com/office/2007/relationships/hdphoto" Target="../media/hdphoto6.wdp"/><Relationship Id="rId5" Type="http://schemas.openxmlformats.org/officeDocument/2006/relationships/image" Target="../media/image16.png"/><Relationship Id="rId4" Type="http://schemas.microsoft.com/office/2007/relationships/hdphoto" Target="../media/hdphoto5.wdp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9.wdp"/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microsoft.com/office/2007/relationships/hdphoto" Target="../media/hdphoto8.wdp"/><Relationship Id="rId5" Type="http://schemas.openxmlformats.org/officeDocument/2006/relationships/image" Target="../media/image19.png"/><Relationship Id="rId4" Type="http://schemas.microsoft.com/office/2007/relationships/hdphoto" Target="../media/hdphoto7.wdp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microsoft.com/office/2007/relationships/hdphoto" Target="../media/hdphoto2.wdp"/><Relationship Id="rId7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0.wdp"/><Relationship Id="rId11" Type="http://schemas.microsoft.com/office/2007/relationships/hdphoto" Target="../media/hdphoto12.wdp"/><Relationship Id="rId5" Type="http://schemas.openxmlformats.org/officeDocument/2006/relationships/image" Target="../media/image21.png"/><Relationship Id="rId10" Type="http://schemas.openxmlformats.org/officeDocument/2006/relationships/image" Target="../media/image24.png"/><Relationship Id="rId4" Type="http://schemas.openxmlformats.org/officeDocument/2006/relationships/image" Target="../media/image7.png"/><Relationship Id="rId9" Type="http://schemas.microsoft.com/office/2007/relationships/hdphoto" Target="../media/hdphoto11.wd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ehance.net/gallery/93648247/AbhiRaksha-Advanced-Women-Safety-App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Relationship Id="rId6" Type="http://schemas.microsoft.com/office/2007/relationships/hdphoto" Target="../media/hdphoto13.wdp"/><Relationship Id="rId11" Type="http://schemas.openxmlformats.org/officeDocument/2006/relationships/hyperlink" Target="https://en.wikipedia.org/wiki/Violence_against_women_in_India" TargetMode="External"/><Relationship Id="rId5" Type="http://schemas.openxmlformats.org/officeDocument/2006/relationships/image" Target="../media/image26.png"/><Relationship Id="rId10" Type="http://schemas.openxmlformats.org/officeDocument/2006/relationships/hyperlink" Target="https://doi.org/10.32628/CSEIT1217368" TargetMode="External"/><Relationship Id="rId4" Type="http://schemas.microsoft.com/office/2007/relationships/hdphoto" Target="../media/hdphoto1.wdp"/><Relationship Id="rId9" Type="http://schemas.openxmlformats.org/officeDocument/2006/relationships/hyperlink" Target="https://www.newsclick.in/crime-against-women-india-4-ncrb-report-2023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20.png"/><Relationship Id="rId7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6" Type="http://schemas.microsoft.com/office/2007/relationships/hdphoto" Target="../media/hdphoto14.wdp"/><Relationship Id="rId5" Type="http://schemas.openxmlformats.org/officeDocument/2006/relationships/image" Target="../media/image27.png"/><Relationship Id="rId4" Type="http://schemas.microsoft.com/office/2007/relationships/hdphoto" Target="../media/hdphoto9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6.wdp"/><Relationship Id="rId5" Type="http://schemas.openxmlformats.org/officeDocument/2006/relationships/image" Target="../media/image29.png"/><Relationship Id="rId4" Type="http://schemas.microsoft.com/office/2007/relationships/hdphoto" Target="../media/hdphoto15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3F56CA-508A-CF7C-1291-907FDB31E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19C7BE6-EBF4-5847-D736-B6E47F1A5D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000">
                <a:srgbClr val="0956BD"/>
              </a:gs>
              <a:gs pos="100000">
                <a:srgbClr val="218BFF">
                  <a:alpha val="59000"/>
                </a:srgb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9E7BC1E-0794-8B80-6A65-1612606C3A72}"/>
              </a:ext>
            </a:extLst>
          </p:cNvPr>
          <p:cNvGrpSpPr/>
          <p:nvPr/>
        </p:nvGrpSpPr>
        <p:grpSpPr>
          <a:xfrm>
            <a:off x="261431" y="173853"/>
            <a:ext cx="698767" cy="161903"/>
            <a:chOff x="734136" y="960124"/>
            <a:chExt cx="698767" cy="161903"/>
          </a:xfrm>
          <a:solidFill>
            <a:srgbClr val="D0CECE"/>
          </a:solidFill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FED54FD5-0568-7F19-9297-EAB2D732A542}"/>
                </a:ext>
              </a:extLst>
            </p:cNvPr>
            <p:cNvSpPr/>
            <p:nvPr/>
          </p:nvSpPr>
          <p:spPr>
            <a:xfrm>
              <a:off x="734136" y="960124"/>
              <a:ext cx="161903" cy="161903"/>
            </a:xfrm>
            <a:prstGeom prst="ellipse">
              <a:avLst/>
            </a:prstGeom>
            <a:solidFill>
              <a:srgbClr val="FFCB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7A2AA5C7-C43F-5993-90E0-14EAA2A7DFEB}"/>
                </a:ext>
              </a:extLst>
            </p:cNvPr>
            <p:cNvSpPr/>
            <p:nvPr/>
          </p:nvSpPr>
          <p:spPr>
            <a:xfrm>
              <a:off x="1000847" y="960124"/>
              <a:ext cx="161903" cy="161903"/>
            </a:xfrm>
            <a:prstGeom prst="ellipse">
              <a:avLst/>
            </a:prstGeom>
            <a:solidFill>
              <a:srgbClr val="4FD0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430139E6-6BAC-39D2-E9D1-1A34A49AEB4D}"/>
                </a:ext>
              </a:extLst>
            </p:cNvPr>
            <p:cNvSpPr/>
            <p:nvPr/>
          </p:nvSpPr>
          <p:spPr>
            <a:xfrm>
              <a:off x="1271000" y="960124"/>
              <a:ext cx="161903" cy="1619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FA4913C-80BA-318E-9AD6-C70175762C23}"/>
              </a:ext>
            </a:extLst>
          </p:cNvPr>
          <p:cNvGrpSpPr/>
          <p:nvPr/>
        </p:nvGrpSpPr>
        <p:grpSpPr>
          <a:xfrm>
            <a:off x="0" y="1644253"/>
            <a:ext cx="5791200" cy="3905250"/>
            <a:chOff x="4514753" y="1185950"/>
            <a:chExt cx="5791200" cy="390525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19AEFEB-6CD5-51AC-53C0-B20B3D57DA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14753" y="1185950"/>
              <a:ext cx="5791200" cy="3905250"/>
            </a:xfrm>
            <a:prstGeom prst="rect">
              <a:avLst/>
            </a:prstGeom>
          </p:spPr>
        </p:pic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801DFFD3-800D-7D14-EFBB-C4F7138600F2}"/>
                </a:ext>
              </a:extLst>
            </p:cNvPr>
            <p:cNvSpPr/>
            <p:nvPr/>
          </p:nvSpPr>
          <p:spPr>
            <a:xfrm>
              <a:off x="7083089" y="1419880"/>
              <a:ext cx="1584960" cy="3139440"/>
            </a:xfrm>
            <a:prstGeom prst="roundRect">
              <a:avLst>
                <a:gd name="adj" fmla="val 12034"/>
              </a:avLst>
            </a:prstGeom>
            <a:solidFill>
              <a:schemeClr val="bg1"/>
            </a:solidFill>
            <a:ln>
              <a:noFill/>
            </a:ln>
            <a:scene3d>
              <a:camera prst="orthographicFront">
                <a:rot lat="0" lon="1499990" rev="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0980974-93E7-B5A0-583B-4A23DB52DB12}"/>
                </a:ext>
              </a:extLst>
            </p:cNvPr>
            <p:cNvGrpSpPr/>
            <p:nvPr/>
          </p:nvGrpSpPr>
          <p:grpSpPr>
            <a:xfrm>
              <a:off x="7361039" y="2475070"/>
              <a:ext cx="1029059" cy="1029059"/>
              <a:chOff x="3850640" y="1285240"/>
              <a:chExt cx="4490720" cy="4490720"/>
            </a:xfrm>
            <a:scene3d>
              <a:camera prst="orthographicFront">
                <a:rot lat="0" lon="900004" rev="0"/>
              </a:camera>
              <a:lightRig rig="threePt" dir="t"/>
            </a:scene3d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A81C6AA5-483C-EAE9-76C0-F4CDA23FA25B}"/>
                  </a:ext>
                </a:extLst>
              </p:cNvPr>
              <p:cNvSpPr/>
              <p:nvPr/>
            </p:nvSpPr>
            <p:spPr>
              <a:xfrm>
                <a:off x="3850640" y="1285240"/>
                <a:ext cx="4490720" cy="4490720"/>
              </a:xfrm>
              <a:prstGeom prst="ellipse">
                <a:avLst/>
              </a:prstGeom>
              <a:solidFill>
                <a:srgbClr val="004AA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74F4E067-D119-48A2-63C2-15569C050C0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8400" b="90000" l="4600" r="90000">
                            <a14:foregroundMark x1="37600" y1="11600" x2="22200" y2="30600"/>
                            <a14:foregroundMark x1="22200" y1="30600" x2="25200" y2="53600"/>
                            <a14:foregroundMark x1="25200" y1="53600" x2="46400" y2="77800"/>
                            <a14:foregroundMark x1="46400" y1="77800" x2="68200" y2="64000"/>
                            <a14:foregroundMark x1="68200" y1="64000" x2="39000" y2="14000"/>
                            <a14:foregroundMark x1="39000" y1="14000" x2="38600" y2="13600"/>
                            <a14:foregroundMark x1="56200" y1="56200" x2="45800" y2="49600"/>
                            <a14:foregroundMark x1="45800" y1="49600" x2="52200" y2="34000"/>
                            <a14:foregroundMark x1="52200" y1="34000" x2="43000" y2="37600"/>
                            <a14:foregroundMark x1="43000" y1="37600" x2="71000" y2="47200"/>
                            <a14:foregroundMark x1="56800" y1="30200" x2="35400" y2="37000"/>
                            <a14:foregroundMark x1="35400" y1="37000" x2="55800" y2="50800"/>
                            <a14:foregroundMark x1="55600" y1="53600" x2="24200" y2="56200"/>
                            <a14:foregroundMark x1="24200" y1="56200" x2="12400" y2="54200"/>
                            <a14:foregroundMark x1="12400" y1="54200" x2="26800" y2="57200"/>
                            <a14:foregroundMark x1="26800" y1="57200" x2="70200" y2="52400"/>
                            <a14:foregroundMark x1="70200" y1="52400" x2="80400" y2="58000"/>
                            <a14:foregroundMark x1="80400" y1="58000" x2="81400" y2="58000"/>
                            <a14:foregroundMark x1="81400" y1="58000" x2="81400" y2="59000"/>
                            <a14:foregroundMark x1="81400" y1="59000" x2="81400" y2="59000"/>
                            <a14:foregroundMark x1="81400" y1="59000" x2="79600" y2="52600"/>
                            <a14:foregroundMark x1="79600" y1="52600" x2="71000" y2="54800"/>
                            <a14:foregroundMark x1="71000" y1="54800" x2="29000" y2="57200"/>
                            <a14:foregroundMark x1="29000" y1="57200" x2="11800" y2="54200"/>
                            <a14:foregroundMark x1="11400" y1="38200" x2="9200" y2="51000"/>
                            <a14:foregroundMark x1="7000" y1="49200" x2="4600" y2="47200"/>
                            <a14:foregroundMark x1="10800" y1="54200" x2="14200" y2="57200"/>
                            <a14:foregroundMark x1="14200" y1="57200" x2="7200" y2="48200"/>
                            <a14:foregroundMark x1="7200" y1="48200" x2="7200" y2="48200"/>
                            <a14:foregroundMark x1="7200" y1="48200" x2="15200" y2="59400"/>
                            <a14:foregroundMark x1="15200" y1="59400" x2="8200" y2="57200"/>
                            <a14:foregroundMark x1="12600" y1="56800" x2="23200" y2="56800"/>
                            <a14:foregroundMark x1="23200" y1="56800" x2="22600" y2="62800"/>
                            <a14:foregroundMark x1="25400" y1="58000" x2="28400" y2="54000"/>
                            <a14:foregroundMark x1="28400" y1="54000" x2="39400" y2="59600"/>
                            <a14:foregroundMark x1="39400" y1="59600" x2="39600" y2="59600"/>
                            <a14:foregroundMark x1="39600" y1="59600" x2="55600" y2="59400"/>
                            <a14:foregroundMark x1="55600" y1="59400" x2="65400" y2="58400"/>
                            <a14:foregroundMark x1="65400" y1="58400" x2="73800" y2="57200"/>
                            <a14:foregroundMark x1="73800" y1="57200" x2="82400" y2="50600"/>
                            <a14:foregroundMark x1="82400" y1="50600" x2="82400" y2="49800"/>
                            <a14:foregroundMark x1="82400" y1="49800" x2="72800" y2="63600"/>
                            <a14:foregroundMark x1="72800" y1="63600" x2="72600" y2="59400"/>
                            <a14:foregroundMark x1="58200" y1="23800" x2="54600" y2="30800"/>
                            <a14:foregroundMark x1="43400" y1="9800" x2="49400" y2="10000"/>
                            <a14:foregroundMark x1="41200" y1="8400" x2="41200" y2="8400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883" t="6183" r="13977" b="11678"/>
              <a:stretch/>
            </p:blipFill>
            <p:spPr>
              <a:xfrm>
                <a:off x="3987800" y="1422400"/>
                <a:ext cx="4216400" cy="4216400"/>
              </a:xfrm>
              <a:prstGeom prst="ellipse">
                <a:avLst/>
              </a:prstGeom>
            </p:spPr>
          </p:pic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B5FE359-6A33-97FA-F590-5B972CEC75D0}"/>
              </a:ext>
            </a:extLst>
          </p:cNvPr>
          <p:cNvSpPr txBox="1"/>
          <p:nvPr/>
        </p:nvSpPr>
        <p:spPr>
          <a:xfrm>
            <a:off x="7688391" y="254804"/>
            <a:ext cx="47650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ptos" panose="020B0004020202020204" pitchFamily="34" charset="0"/>
              </a:rPr>
              <a:t>INTRODUCTION</a:t>
            </a:r>
            <a:endParaRPr lang="en-IN" sz="40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DB067A3-D8B6-015A-5C6C-8167D9CF6897}"/>
              </a:ext>
            </a:extLst>
          </p:cNvPr>
          <p:cNvCxnSpPr>
            <a:cxnSpLocks/>
          </p:cNvCxnSpPr>
          <p:nvPr/>
        </p:nvCxnSpPr>
        <p:spPr>
          <a:xfrm>
            <a:off x="7617271" y="335756"/>
            <a:ext cx="0" cy="536806"/>
          </a:xfrm>
          <a:prstGeom prst="line">
            <a:avLst/>
          </a:prstGeom>
          <a:ln w="38100">
            <a:solidFill>
              <a:srgbClr val="FFCB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FE11B04-E16B-8783-8EF7-9B207740FFCB}"/>
              </a:ext>
            </a:extLst>
          </p:cNvPr>
          <p:cNvSpPr txBox="1"/>
          <p:nvPr/>
        </p:nvSpPr>
        <p:spPr>
          <a:xfrm>
            <a:off x="6522720" y="2064787"/>
            <a:ext cx="5161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 Android Women’s Safety App</a:t>
            </a:r>
          </a:p>
          <a:p>
            <a:endParaRPr lang="en-US" sz="24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                  “DefendHER”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C7E0D97-BCC0-5A74-E8D4-5B7AA768332C}"/>
              </a:ext>
            </a:extLst>
          </p:cNvPr>
          <p:cNvSpPr/>
          <p:nvPr/>
        </p:nvSpPr>
        <p:spPr>
          <a:xfrm>
            <a:off x="6713823" y="3495223"/>
            <a:ext cx="4683760" cy="105664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770383-D52A-1E0C-867F-4FBF361609B2}"/>
              </a:ext>
            </a:extLst>
          </p:cNvPr>
          <p:cNvSpPr txBox="1"/>
          <p:nvPr/>
        </p:nvSpPr>
        <p:spPr>
          <a:xfrm>
            <a:off x="6996939" y="3700377"/>
            <a:ext cx="4531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i="0" dirty="0">
                <a:solidFill>
                  <a:schemeClr val="accent1">
                    <a:lumMod val="50000"/>
                  </a:schemeClr>
                </a:solidFill>
                <a:effectLst/>
                <a:latin typeface="Aptos" panose="020B0004020202020204" pitchFamily="34" charset="0"/>
              </a:rPr>
              <a:t>“Empowering Women, Ensuring Safety: </a:t>
            </a:r>
          </a:p>
          <a:p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        </a:t>
            </a:r>
            <a:r>
              <a:rPr lang="en-US" sz="1800" b="1" i="0" dirty="0">
                <a:solidFill>
                  <a:schemeClr val="accent1">
                    <a:lumMod val="50000"/>
                  </a:schemeClr>
                </a:solidFill>
                <a:effectLst/>
                <a:latin typeface="Aptos" panose="020B0004020202020204" pitchFamily="34" charset="0"/>
              </a:rPr>
              <a:t>Your Guardian in Every Pocket."</a:t>
            </a:r>
            <a:endParaRPr lang="en-IN" sz="1800" b="1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5D615D-703B-4C1F-C30E-4AEA30E1DCAF}"/>
              </a:ext>
            </a:extLst>
          </p:cNvPr>
          <p:cNvSpPr txBox="1"/>
          <p:nvPr/>
        </p:nvSpPr>
        <p:spPr>
          <a:xfrm>
            <a:off x="7883845" y="5197100"/>
            <a:ext cx="30609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SALVIA R. D’SOUZA</a:t>
            </a:r>
          </a:p>
          <a:p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               &amp;</a:t>
            </a:r>
          </a:p>
          <a:p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ANCHAL M. TIWARI</a:t>
            </a:r>
            <a:endParaRPr lang="en-IN" sz="20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4F8037F-B351-527E-81BC-D9FC2A2D5BC2}"/>
              </a:ext>
            </a:extLst>
          </p:cNvPr>
          <p:cNvCxnSpPr>
            <a:cxnSpLocks/>
          </p:cNvCxnSpPr>
          <p:nvPr/>
        </p:nvCxnSpPr>
        <p:spPr>
          <a:xfrm>
            <a:off x="8374201" y="973479"/>
            <a:ext cx="242686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8F77FA14-CA35-A27E-1093-24BDDEAF1852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  <a:alphaModFix amt="2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933357">
            <a:off x="-2264432" y="-1980998"/>
            <a:ext cx="2699332" cy="269933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415FBFD-47EA-2116-BDD8-0A56D8EE268C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  <a:alphaModFix amt="2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850158">
            <a:off x="477284" y="-1593231"/>
            <a:ext cx="880163" cy="88016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89C13E7-235B-896F-0ACC-45832B64C6E2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  <a:alphaModFix amt="2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450621">
            <a:off x="10360158" y="4954389"/>
            <a:ext cx="3227321" cy="322732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4A72008-F464-69CC-4D8D-E82903728C19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  <a:alphaModFix amt="2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770028">
            <a:off x="8516923" y="6283215"/>
            <a:ext cx="1794807" cy="1794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336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CC7EC1-40DC-F5B6-4648-5AA6F0BA2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E357227-38CB-4A2E-274E-6CB91BB94B5E}"/>
              </a:ext>
            </a:extLst>
          </p:cNvPr>
          <p:cNvSpPr/>
          <p:nvPr/>
        </p:nvSpPr>
        <p:spPr>
          <a:xfrm>
            <a:off x="-2036" y="0"/>
            <a:ext cx="12192000" cy="6858000"/>
          </a:xfrm>
          <a:prstGeom prst="rect">
            <a:avLst/>
          </a:prstGeom>
          <a:gradFill flip="none" rotWithShape="1">
            <a:gsLst>
              <a:gs pos="3000">
                <a:srgbClr val="0956BD"/>
              </a:gs>
              <a:gs pos="100000">
                <a:srgbClr val="218BFF">
                  <a:alpha val="59000"/>
                </a:srgb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9DB77B0-511A-152B-E04F-AC82166D2B3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6810" y="-1296292"/>
            <a:ext cx="3331662" cy="3331662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AD22C62-7734-3A4D-3D43-A2647AF8435D}"/>
              </a:ext>
            </a:extLst>
          </p:cNvPr>
          <p:cNvGrpSpPr/>
          <p:nvPr/>
        </p:nvGrpSpPr>
        <p:grpSpPr>
          <a:xfrm>
            <a:off x="332155" y="2670461"/>
            <a:ext cx="4608892" cy="3107970"/>
            <a:chOff x="4514754" y="1185950"/>
            <a:chExt cx="5791202" cy="390525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6668D08-2D04-6744-9215-CADC782A52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14754" y="1185950"/>
              <a:ext cx="5791202" cy="3905251"/>
            </a:xfrm>
            <a:prstGeom prst="rect">
              <a:avLst/>
            </a:prstGeom>
          </p:spPr>
        </p:pic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CF079A7-BFBC-92B1-79A4-6B77867A0845}"/>
                </a:ext>
              </a:extLst>
            </p:cNvPr>
            <p:cNvSpPr/>
            <p:nvPr/>
          </p:nvSpPr>
          <p:spPr>
            <a:xfrm>
              <a:off x="7083090" y="1419880"/>
              <a:ext cx="1584961" cy="3139441"/>
            </a:xfrm>
            <a:prstGeom prst="roundRect">
              <a:avLst>
                <a:gd name="adj" fmla="val 12034"/>
              </a:avLst>
            </a:prstGeom>
            <a:solidFill>
              <a:schemeClr val="bg1"/>
            </a:solidFill>
            <a:ln>
              <a:noFill/>
            </a:ln>
            <a:scene3d>
              <a:camera prst="orthographicFront">
                <a:rot lat="0" lon="1499990" rev="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1A4FD0C-B892-167E-C1DC-D20C3CA560A1}"/>
                </a:ext>
              </a:extLst>
            </p:cNvPr>
            <p:cNvGrpSpPr/>
            <p:nvPr/>
          </p:nvGrpSpPr>
          <p:grpSpPr>
            <a:xfrm>
              <a:off x="7361039" y="2475070"/>
              <a:ext cx="1029059" cy="1029059"/>
              <a:chOff x="3850640" y="1285240"/>
              <a:chExt cx="4490720" cy="4490720"/>
            </a:xfrm>
            <a:scene3d>
              <a:camera prst="orthographicFront">
                <a:rot lat="0" lon="900004" rev="0"/>
              </a:camera>
              <a:lightRig rig="threePt" dir="t"/>
            </a:scene3d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6DF18119-5923-B907-83EA-3773BBB49C9A}"/>
                  </a:ext>
                </a:extLst>
              </p:cNvPr>
              <p:cNvSpPr/>
              <p:nvPr/>
            </p:nvSpPr>
            <p:spPr>
              <a:xfrm>
                <a:off x="3850640" y="1285240"/>
                <a:ext cx="4490720" cy="4490720"/>
              </a:xfrm>
              <a:prstGeom prst="ellipse">
                <a:avLst/>
              </a:prstGeom>
              <a:solidFill>
                <a:srgbClr val="004AA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706B581C-0E13-A5FD-5E94-775A925257F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8400" b="90000" l="4600" r="90000">
                            <a14:foregroundMark x1="37600" y1="11600" x2="22200" y2="30600"/>
                            <a14:foregroundMark x1="22200" y1="30600" x2="25200" y2="53600"/>
                            <a14:foregroundMark x1="25200" y1="53600" x2="46400" y2="77800"/>
                            <a14:foregroundMark x1="46400" y1="77800" x2="68200" y2="64000"/>
                            <a14:foregroundMark x1="68200" y1="64000" x2="39000" y2="14000"/>
                            <a14:foregroundMark x1="39000" y1="14000" x2="38600" y2="13600"/>
                            <a14:foregroundMark x1="56200" y1="56200" x2="45800" y2="49600"/>
                            <a14:foregroundMark x1="45800" y1="49600" x2="52200" y2="34000"/>
                            <a14:foregroundMark x1="52200" y1="34000" x2="43000" y2="37600"/>
                            <a14:foregroundMark x1="43000" y1="37600" x2="71000" y2="47200"/>
                            <a14:foregroundMark x1="56800" y1="30200" x2="35400" y2="37000"/>
                            <a14:foregroundMark x1="35400" y1="37000" x2="55800" y2="50800"/>
                            <a14:foregroundMark x1="55600" y1="53600" x2="24200" y2="56200"/>
                            <a14:foregroundMark x1="24200" y1="56200" x2="12400" y2="54200"/>
                            <a14:foregroundMark x1="12400" y1="54200" x2="26800" y2="57200"/>
                            <a14:foregroundMark x1="26800" y1="57200" x2="70200" y2="52400"/>
                            <a14:foregroundMark x1="70200" y1="52400" x2="80400" y2="58000"/>
                            <a14:foregroundMark x1="80400" y1="58000" x2="81400" y2="58000"/>
                            <a14:foregroundMark x1="81400" y1="58000" x2="81400" y2="59000"/>
                            <a14:foregroundMark x1="81400" y1="59000" x2="81400" y2="59000"/>
                            <a14:foregroundMark x1="81400" y1="59000" x2="79600" y2="52600"/>
                            <a14:foregroundMark x1="79600" y1="52600" x2="71000" y2="54800"/>
                            <a14:foregroundMark x1="71000" y1="54800" x2="29000" y2="57200"/>
                            <a14:foregroundMark x1="29000" y1="57200" x2="11800" y2="54200"/>
                            <a14:foregroundMark x1="11400" y1="38200" x2="9200" y2="51000"/>
                            <a14:foregroundMark x1="7000" y1="49200" x2="4600" y2="47200"/>
                            <a14:foregroundMark x1="10800" y1="54200" x2="14200" y2="57200"/>
                            <a14:foregroundMark x1="14200" y1="57200" x2="7200" y2="48200"/>
                            <a14:foregroundMark x1="7200" y1="48200" x2="7200" y2="48200"/>
                            <a14:foregroundMark x1="7200" y1="48200" x2="15200" y2="59400"/>
                            <a14:foregroundMark x1="15200" y1="59400" x2="8200" y2="57200"/>
                            <a14:foregroundMark x1="12600" y1="56800" x2="23200" y2="56800"/>
                            <a14:foregroundMark x1="23200" y1="56800" x2="22600" y2="62800"/>
                            <a14:foregroundMark x1="25400" y1="58000" x2="28400" y2="54000"/>
                            <a14:foregroundMark x1="28400" y1="54000" x2="39400" y2="59600"/>
                            <a14:foregroundMark x1="39400" y1="59600" x2="39600" y2="59600"/>
                            <a14:foregroundMark x1="39600" y1="59600" x2="55600" y2="59400"/>
                            <a14:foregroundMark x1="55600" y1="59400" x2="65400" y2="58400"/>
                            <a14:foregroundMark x1="65400" y1="58400" x2="73800" y2="57200"/>
                            <a14:foregroundMark x1="73800" y1="57200" x2="82400" y2="50600"/>
                            <a14:foregroundMark x1="82400" y1="50600" x2="82400" y2="49800"/>
                            <a14:foregroundMark x1="82400" y1="49800" x2="72800" y2="63600"/>
                            <a14:foregroundMark x1="72800" y1="63600" x2="72600" y2="59400"/>
                            <a14:foregroundMark x1="58200" y1="23800" x2="54600" y2="30800"/>
                            <a14:foregroundMark x1="43400" y1="9800" x2="49400" y2="10000"/>
                            <a14:foregroundMark x1="41200" y1="8400" x2="41200" y2="8400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883" t="6183" r="13977" b="11678"/>
              <a:stretch/>
            </p:blipFill>
            <p:spPr>
              <a:xfrm>
                <a:off x="3987800" y="1422400"/>
                <a:ext cx="4216400" cy="4216400"/>
              </a:xfrm>
              <a:prstGeom prst="ellipse">
                <a:avLst/>
              </a:prstGeom>
            </p:spPr>
          </p:pic>
        </p:grpSp>
      </p:grp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00CE8B7-9271-3BE2-45EE-1F24C683ADBF}"/>
              </a:ext>
            </a:extLst>
          </p:cNvPr>
          <p:cNvSpPr/>
          <p:nvPr/>
        </p:nvSpPr>
        <p:spPr>
          <a:xfrm>
            <a:off x="5391844" y="2318724"/>
            <a:ext cx="6448674" cy="3565797"/>
          </a:xfrm>
          <a:prstGeom prst="roundRect">
            <a:avLst>
              <a:gd name="adj" fmla="val 10108"/>
            </a:avLst>
          </a:prstGeom>
          <a:solidFill>
            <a:schemeClr val="bg1"/>
          </a:solidFill>
          <a:ln>
            <a:noFill/>
          </a:ln>
          <a:effectLst>
            <a:glow rad="228600">
              <a:srgbClr val="5A0EE2">
                <a:alpha val="21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BD77B45-6B18-1122-5BAC-D23CF8555710}"/>
              </a:ext>
            </a:extLst>
          </p:cNvPr>
          <p:cNvSpPr txBox="1"/>
          <p:nvPr/>
        </p:nvSpPr>
        <p:spPr>
          <a:xfrm>
            <a:off x="5535102" y="2670461"/>
            <a:ext cx="61417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 rtl="0" eaLnBrk="1" latinLnBrk="0" hangingPunct="1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000" b="0" i="0" kern="1200" dirty="0">
                <a:solidFill>
                  <a:schemeClr val="accent1">
                    <a:lumMod val="50000"/>
                  </a:schemeClr>
                </a:solidFill>
                <a:effectLst/>
                <a:latin typeface="Aptos" panose="020B0004020202020204" pitchFamily="34" charset="0"/>
              </a:rPr>
              <a:t>This app serves as a reliable companion,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utilizing</a:t>
            </a:r>
            <a:r>
              <a:rPr lang="en-US" sz="2000" b="0" i="0" kern="1200" dirty="0">
                <a:solidFill>
                  <a:schemeClr val="accent1">
                    <a:lumMod val="50000"/>
                  </a:schemeClr>
                </a:solidFill>
                <a:effectLst/>
                <a:latin typeface="Aptos" panose="020B0004020202020204" pitchFamily="34" charset="0"/>
              </a:rPr>
              <a:t> cutting-edge technology to address the unique challenges women may encounter in their daily lives.</a:t>
            </a:r>
          </a:p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000" b="0" i="0" kern="1200" dirty="0">
                <a:solidFill>
                  <a:schemeClr val="accent1">
                    <a:lumMod val="50000"/>
                  </a:schemeClr>
                </a:solidFill>
                <a:effectLst/>
                <a:latin typeface="Aptos" panose="020B0004020202020204" pitchFamily="34" charset="0"/>
              </a:rPr>
              <a:t> </a:t>
            </a:r>
            <a:endParaRPr lang="en-IN" sz="2000" dirty="0">
              <a:solidFill>
                <a:schemeClr val="accent1">
                  <a:lumMod val="50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342900" indent="-342900" algn="l" rtl="0" eaLnBrk="1" latinLnBrk="0" hangingPunct="1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000" b="0" i="0" kern="1200" dirty="0">
                <a:solidFill>
                  <a:schemeClr val="accent1">
                    <a:lumMod val="50000"/>
                  </a:schemeClr>
                </a:solidFill>
                <a:effectLst/>
                <a:latin typeface="Aptos" panose="020B0004020202020204" pitchFamily="34" charset="0"/>
              </a:rPr>
              <a:t>As we navigate the complexities of safety in the modern era, DefendHER stands as a testament to the commitment of creating a world where every woman feels protected, confident, and in control.</a:t>
            </a:r>
            <a:endParaRPr lang="en-IN" sz="2000" dirty="0">
              <a:solidFill>
                <a:schemeClr val="accent1">
                  <a:lumMod val="50000"/>
                </a:schemeClr>
              </a:solidFill>
              <a:effectLst/>
              <a:latin typeface="Aptos" panose="020B0004020202020204" pitchFamily="34" charset="0"/>
            </a:endParaRP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6358FE3-420E-B42E-61CD-A70D55F8ADE5}"/>
              </a:ext>
            </a:extLst>
          </p:cNvPr>
          <p:cNvCxnSpPr>
            <a:cxnSpLocks/>
          </p:cNvCxnSpPr>
          <p:nvPr/>
        </p:nvCxnSpPr>
        <p:spPr>
          <a:xfrm>
            <a:off x="2453570" y="1334284"/>
            <a:ext cx="942392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Picture 75">
            <a:extLst>
              <a:ext uri="{FF2B5EF4-FFF2-40B4-BE49-F238E27FC236}">
                <a16:creationId xmlns:a16="http://schemas.microsoft.com/office/drawing/2014/main" id="{A7437631-05DD-0A0B-D4D0-6E3A1B73685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4788" y="0"/>
            <a:ext cx="2388634" cy="2388634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1761EB7-D4A8-3027-B2BB-96EFF0FFFA61}"/>
              </a:ext>
            </a:extLst>
          </p:cNvPr>
          <p:cNvCxnSpPr>
            <a:cxnSpLocks/>
          </p:cNvCxnSpPr>
          <p:nvPr/>
        </p:nvCxnSpPr>
        <p:spPr>
          <a:xfrm>
            <a:off x="1963155" y="799880"/>
            <a:ext cx="0" cy="422476"/>
          </a:xfrm>
          <a:prstGeom prst="line">
            <a:avLst/>
          </a:prstGeom>
          <a:ln w="38100">
            <a:solidFill>
              <a:srgbClr val="FFCB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E174630-7DE0-E1E1-9537-DC3F20189CC9}"/>
              </a:ext>
            </a:extLst>
          </p:cNvPr>
          <p:cNvSpPr txBox="1"/>
          <p:nvPr/>
        </p:nvSpPr>
        <p:spPr>
          <a:xfrm>
            <a:off x="2092952" y="687953"/>
            <a:ext cx="19380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ptos" panose="020B00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ABOUT</a:t>
            </a:r>
            <a:endParaRPr lang="en-IN" sz="36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19B7303-8D4A-7DE7-3550-1C6E595040D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155" y="2331444"/>
            <a:ext cx="678034" cy="67803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2628284-906E-9C45-7CBE-91140130227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785" y="148805"/>
            <a:ext cx="549362" cy="54936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EEA68C9-7157-9C54-41ED-B709573DD17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553" y="1492020"/>
            <a:ext cx="382048" cy="38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105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CC7EC1-40DC-F5B6-4648-5AA6F0BA2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E357227-38CB-4A2E-274E-6CB91BB94B5E}"/>
              </a:ext>
            </a:extLst>
          </p:cNvPr>
          <p:cNvSpPr/>
          <p:nvPr/>
        </p:nvSpPr>
        <p:spPr>
          <a:xfrm>
            <a:off x="-2036" y="0"/>
            <a:ext cx="12192000" cy="6858000"/>
          </a:xfrm>
          <a:prstGeom prst="rect">
            <a:avLst/>
          </a:prstGeom>
          <a:gradFill flip="none" rotWithShape="1">
            <a:gsLst>
              <a:gs pos="3000">
                <a:srgbClr val="0956BD"/>
              </a:gs>
              <a:gs pos="100000">
                <a:srgbClr val="218BFF">
                  <a:alpha val="59000"/>
                </a:srgb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9DB77B0-511A-152B-E04F-AC82166D2B3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6810" y="-1296292"/>
            <a:ext cx="3331662" cy="3331662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00CE8B7-9271-3BE2-45EE-1F24C683ADBF}"/>
              </a:ext>
            </a:extLst>
          </p:cNvPr>
          <p:cNvSpPr/>
          <p:nvPr/>
        </p:nvSpPr>
        <p:spPr>
          <a:xfrm>
            <a:off x="1277954" y="1989040"/>
            <a:ext cx="8957727" cy="1468566"/>
          </a:xfrm>
          <a:prstGeom prst="roundRect">
            <a:avLst>
              <a:gd name="adj" fmla="val 10108"/>
            </a:avLst>
          </a:prstGeom>
          <a:solidFill>
            <a:schemeClr val="bg1"/>
          </a:solidFill>
          <a:ln>
            <a:noFill/>
          </a:ln>
          <a:effectLst>
            <a:glow rad="228600">
              <a:srgbClr val="5A0EE2">
                <a:alpha val="21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6358FE3-420E-B42E-61CD-A70D55F8ADE5}"/>
              </a:ext>
            </a:extLst>
          </p:cNvPr>
          <p:cNvCxnSpPr>
            <a:cxnSpLocks/>
          </p:cNvCxnSpPr>
          <p:nvPr/>
        </p:nvCxnSpPr>
        <p:spPr>
          <a:xfrm>
            <a:off x="2453570" y="1334284"/>
            <a:ext cx="942392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1761EB7-D4A8-3027-B2BB-96EFF0FFFA61}"/>
              </a:ext>
            </a:extLst>
          </p:cNvPr>
          <p:cNvCxnSpPr>
            <a:cxnSpLocks/>
          </p:cNvCxnSpPr>
          <p:nvPr/>
        </p:nvCxnSpPr>
        <p:spPr>
          <a:xfrm>
            <a:off x="1963155" y="799880"/>
            <a:ext cx="0" cy="422476"/>
          </a:xfrm>
          <a:prstGeom prst="line">
            <a:avLst/>
          </a:prstGeom>
          <a:ln w="38100">
            <a:solidFill>
              <a:srgbClr val="FFCB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E174630-7DE0-E1E1-9537-DC3F20189CC9}"/>
              </a:ext>
            </a:extLst>
          </p:cNvPr>
          <p:cNvSpPr txBox="1"/>
          <p:nvPr/>
        </p:nvSpPr>
        <p:spPr>
          <a:xfrm>
            <a:off x="2092952" y="687953"/>
            <a:ext cx="24790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ptos" panose="020B00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ABSTRACT</a:t>
            </a:r>
            <a:endParaRPr lang="en-IN" sz="36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19B7303-8D4A-7DE7-3550-1C6E595040D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155" y="2331444"/>
            <a:ext cx="678034" cy="67803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2628284-906E-9C45-7CBE-91140130227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785" y="148805"/>
            <a:ext cx="549362" cy="54936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EEA68C9-7157-9C54-41ED-B709573DD17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553" y="1492020"/>
            <a:ext cx="382048" cy="382048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37F8E699-92A2-ED4E-3CA2-8A9F4DEF608F}"/>
              </a:ext>
            </a:extLst>
          </p:cNvPr>
          <p:cNvGrpSpPr/>
          <p:nvPr/>
        </p:nvGrpSpPr>
        <p:grpSpPr>
          <a:xfrm>
            <a:off x="9738430" y="135057"/>
            <a:ext cx="2079617" cy="1402373"/>
            <a:chOff x="4514754" y="1185950"/>
            <a:chExt cx="5791202" cy="390525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0DC02C0-9456-2B36-50F5-6E4BB73D71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14754" y="1185950"/>
              <a:ext cx="5791202" cy="3905251"/>
            </a:xfrm>
            <a:prstGeom prst="rect">
              <a:avLst/>
            </a:prstGeom>
          </p:spPr>
        </p:pic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3009FB2-4E35-D4F3-0AE3-B7DAE28886AD}"/>
                </a:ext>
              </a:extLst>
            </p:cNvPr>
            <p:cNvSpPr/>
            <p:nvPr/>
          </p:nvSpPr>
          <p:spPr>
            <a:xfrm>
              <a:off x="7083090" y="1419880"/>
              <a:ext cx="1584961" cy="3139441"/>
            </a:xfrm>
            <a:prstGeom prst="roundRect">
              <a:avLst>
                <a:gd name="adj" fmla="val 12034"/>
              </a:avLst>
            </a:prstGeom>
            <a:solidFill>
              <a:schemeClr val="bg1"/>
            </a:solidFill>
            <a:ln>
              <a:noFill/>
            </a:ln>
            <a:scene3d>
              <a:camera prst="orthographicFront">
                <a:rot lat="0" lon="1499990" rev="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FAC6E18-907A-4AC2-9B3A-31DACA7F852F}"/>
                </a:ext>
              </a:extLst>
            </p:cNvPr>
            <p:cNvGrpSpPr/>
            <p:nvPr/>
          </p:nvGrpSpPr>
          <p:grpSpPr>
            <a:xfrm>
              <a:off x="7361039" y="2475070"/>
              <a:ext cx="1029059" cy="1029059"/>
              <a:chOff x="3850640" y="1285240"/>
              <a:chExt cx="4490720" cy="4490720"/>
            </a:xfrm>
            <a:scene3d>
              <a:camera prst="orthographicFront">
                <a:rot lat="0" lon="900004" rev="0"/>
              </a:camera>
              <a:lightRig rig="threePt" dir="t"/>
            </a:scene3d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4FA7B5F5-D72A-C8F5-1244-9679839300AF}"/>
                  </a:ext>
                </a:extLst>
              </p:cNvPr>
              <p:cNvSpPr/>
              <p:nvPr/>
            </p:nvSpPr>
            <p:spPr>
              <a:xfrm>
                <a:off x="3850640" y="1285240"/>
                <a:ext cx="4490720" cy="4490720"/>
              </a:xfrm>
              <a:prstGeom prst="ellipse">
                <a:avLst/>
              </a:prstGeom>
              <a:solidFill>
                <a:srgbClr val="004AA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D5C2188D-D7EE-0E78-710A-54D380D288F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8400" b="90000" l="4600" r="90000">
                            <a14:foregroundMark x1="37600" y1="11600" x2="22200" y2="30600"/>
                            <a14:foregroundMark x1="22200" y1="30600" x2="25200" y2="53600"/>
                            <a14:foregroundMark x1="25200" y1="53600" x2="46400" y2="77800"/>
                            <a14:foregroundMark x1="46400" y1="77800" x2="68200" y2="64000"/>
                            <a14:foregroundMark x1="68200" y1="64000" x2="39000" y2="14000"/>
                            <a14:foregroundMark x1="39000" y1="14000" x2="38600" y2="13600"/>
                            <a14:foregroundMark x1="56200" y1="56200" x2="45800" y2="49600"/>
                            <a14:foregroundMark x1="45800" y1="49600" x2="52200" y2="34000"/>
                            <a14:foregroundMark x1="52200" y1="34000" x2="43000" y2="37600"/>
                            <a14:foregroundMark x1="43000" y1="37600" x2="71000" y2="47200"/>
                            <a14:foregroundMark x1="56800" y1="30200" x2="35400" y2="37000"/>
                            <a14:foregroundMark x1="35400" y1="37000" x2="55800" y2="50800"/>
                            <a14:foregroundMark x1="55600" y1="53600" x2="24200" y2="56200"/>
                            <a14:foregroundMark x1="24200" y1="56200" x2="12400" y2="54200"/>
                            <a14:foregroundMark x1="12400" y1="54200" x2="26800" y2="57200"/>
                            <a14:foregroundMark x1="26800" y1="57200" x2="70200" y2="52400"/>
                            <a14:foregroundMark x1="70200" y1="52400" x2="80400" y2="58000"/>
                            <a14:foregroundMark x1="80400" y1="58000" x2="81400" y2="58000"/>
                            <a14:foregroundMark x1="81400" y1="58000" x2="81400" y2="59000"/>
                            <a14:foregroundMark x1="81400" y1="59000" x2="81400" y2="59000"/>
                            <a14:foregroundMark x1="81400" y1="59000" x2="79600" y2="52600"/>
                            <a14:foregroundMark x1="79600" y1="52600" x2="71000" y2="54800"/>
                            <a14:foregroundMark x1="71000" y1="54800" x2="29000" y2="57200"/>
                            <a14:foregroundMark x1="29000" y1="57200" x2="11800" y2="54200"/>
                            <a14:foregroundMark x1="11400" y1="38200" x2="9200" y2="51000"/>
                            <a14:foregroundMark x1="7000" y1="49200" x2="4600" y2="47200"/>
                            <a14:foregroundMark x1="10800" y1="54200" x2="14200" y2="57200"/>
                            <a14:foregroundMark x1="14200" y1="57200" x2="7200" y2="48200"/>
                            <a14:foregroundMark x1="7200" y1="48200" x2="7200" y2="48200"/>
                            <a14:foregroundMark x1="7200" y1="48200" x2="15200" y2="59400"/>
                            <a14:foregroundMark x1="15200" y1="59400" x2="8200" y2="57200"/>
                            <a14:foregroundMark x1="12600" y1="56800" x2="23200" y2="56800"/>
                            <a14:foregroundMark x1="23200" y1="56800" x2="22600" y2="62800"/>
                            <a14:foregroundMark x1="25400" y1="58000" x2="28400" y2="54000"/>
                            <a14:foregroundMark x1="28400" y1="54000" x2="39400" y2="59600"/>
                            <a14:foregroundMark x1="39400" y1="59600" x2="39600" y2="59600"/>
                            <a14:foregroundMark x1="39600" y1="59600" x2="55600" y2="59400"/>
                            <a14:foregroundMark x1="55600" y1="59400" x2="65400" y2="58400"/>
                            <a14:foregroundMark x1="65400" y1="58400" x2="73800" y2="57200"/>
                            <a14:foregroundMark x1="73800" y1="57200" x2="82400" y2="50600"/>
                            <a14:foregroundMark x1="82400" y1="50600" x2="82400" y2="49800"/>
                            <a14:foregroundMark x1="82400" y1="49800" x2="72800" y2="63600"/>
                            <a14:foregroundMark x1="72800" y1="63600" x2="72600" y2="59400"/>
                            <a14:foregroundMark x1="58200" y1="23800" x2="54600" y2="30800"/>
                            <a14:foregroundMark x1="43400" y1="9800" x2="49400" y2="10000"/>
                            <a14:foregroundMark x1="41200" y1="8400" x2="41200" y2="8400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883" t="6183" r="13977" b="11678"/>
              <a:stretch/>
            </p:blipFill>
            <p:spPr>
              <a:xfrm>
                <a:off x="3987800" y="1422400"/>
                <a:ext cx="4216400" cy="4216400"/>
              </a:xfrm>
              <a:prstGeom prst="ellipse">
                <a:avLst/>
              </a:prstGeom>
            </p:spPr>
          </p:pic>
        </p:grp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0425381-889A-E60B-7AAE-FF0E69EF397A}"/>
              </a:ext>
            </a:extLst>
          </p:cNvPr>
          <p:cNvSpPr/>
          <p:nvPr/>
        </p:nvSpPr>
        <p:spPr>
          <a:xfrm>
            <a:off x="1277955" y="3334618"/>
            <a:ext cx="8957727" cy="1468566"/>
          </a:xfrm>
          <a:prstGeom prst="roundRect">
            <a:avLst>
              <a:gd name="adj" fmla="val 10108"/>
            </a:avLst>
          </a:prstGeom>
          <a:solidFill>
            <a:schemeClr val="bg1"/>
          </a:solidFill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AFA872F-257B-F256-A216-7A9BBFAD9F64}"/>
              </a:ext>
            </a:extLst>
          </p:cNvPr>
          <p:cNvSpPr/>
          <p:nvPr/>
        </p:nvSpPr>
        <p:spPr>
          <a:xfrm>
            <a:off x="1277955" y="4710458"/>
            <a:ext cx="8957727" cy="1468566"/>
          </a:xfrm>
          <a:prstGeom prst="roundRect">
            <a:avLst>
              <a:gd name="adj" fmla="val 10108"/>
            </a:avLst>
          </a:prstGeom>
          <a:solidFill>
            <a:schemeClr val="bg1"/>
          </a:solidFill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0F87BC-3914-C859-D586-6370D44B6710}"/>
              </a:ext>
            </a:extLst>
          </p:cNvPr>
          <p:cNvSpPr txBox="1"/>
          <p:nvPr/>
        </p:nvSpPr>
        <p:spPr>
          <a:xfrm>
            <a:off x="1629352" y="2142601"/>
            <a:ext cx="7841219" cy="1426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DefendHER is a comprehensive safety solution that incorporates a myriad of features, including emergency helpline numbers, actionable self-defense tips, a swift SOS panic button, discreet location sharing via SMS, and a repository of essential women's rights laws.</a:t>
            </a:r>
            <a:endParaRPr lang="en-IN" sz="1600" dirty="0">
              <a:effectLst/>
              <a:latin typeface="Aptos" panose="020B0004020202020204" pitchFamily="34" charset="0"/>
            </a:endParaRP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IN" sz="1600" kern="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3E79F4-FE8A-4F06-2DFC-E866881A0FEF}"/>
              </a:ext>
            </a:extLst>
          </p:cNvPr>
          <p:cNvSpPr txBox="1"/>
          <p:nvPr/>
        </p:nvSpPr>
        <p:spPr>
          <a:xfrm>
            <a:off x="1629352" y="3495920"/>
            <a:ext cx="73359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Furthermore, </a:t>
            </a:r>
            <a:r>
              <a:rPr lang="en-IN" sz="1600" dirty="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DefendHER</a:t>
            </a:r>
            <a:r>
              <a:rPr lang="en-IN" sz="16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dedicated to always evolving and adapting to the changing requirements and issues that women confront. We keep </a:t>
            </a:r>
            <a:r>
              <a:rPr lang="en-IN" sz="1600" dirty="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DefendHER</a:t>
            </a:r>
            <a:r>
              <a:rPr lang="en-IN" sz="16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at the forefront of edge of personal safety innovation by providing continuous improvement and enhancements.</a:t>
            </a:r>
            <a:endParaRPr lang="en-IN" sz="1600" dirty="0">
              <a:effectLst/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109785-0D26-091E-BD29-98083E937368}"/>
              </a:ext>
            </a:extLst>
          </p:cNvPr>
          <p:cNvSpPr txBox="1"/>
          <p:nvPr/>
        </p:nvSpPr>
        <p:spPr>
          <a:xfrm>
            <a:off x="1629352" y="4901062"/>
            <a:ext cx="795647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Whether it's integrating new features, improving existing functionalities, or extending our network of support services, </a:t>
            </a:r>
            <a:r>
              <a:rPr lang="en-IN" sz="1600" dirty="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DefendHER</a:t>
            </a:r>
            <a:r>
              <a:rPr lang="en-IN" sz="16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committed to staying ahead of the curve and giving women the skills they require to navigate the complexity of personal safety with confidence and resilience. </a:t>
            </a:r>
            <a:endParaRPr lang="en-IN" sz="1600" dirty="0">
              <a:effectLst/>
              <a:latin typeface="Aptos" panose="020B0004020202020204" pitchFamily="34" charset="0"/>
            </a:endParaRPr>
          </a:p>
          <a:p>
            <a:endParaRPr lang="en-IN" sz="16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077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311281-A26F-F9C4-CE2A-0D36279A47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BAB1591-93D4-B15E-53CD-5FC4CB06F7BC}"/>
              </a:ext>
            </a:extLst>
          </p:cNvPr>
          <p:cNvSpPr/>
          <p:nvPr/>
        </p:nvSpPr>
        <p:spPr>
          <a:xfrm>
            <a:off x="465753" y="1285681"/>
            <a:ext cx="6532206" cy="4889733"/>
          </a:xfrm>
          <a:prstGeom prst="roundRect">
            <a:avLst>
              <a:gd name="adj" fmla="val 5855"/>
            </a:avLst>
          </a:prstGeom>
          <a:solidFill>
            <a:srgbClr val="FDFDFD"/>
          </a:solidFill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152400" sx="103000" sy="103000" algn="ctr" rotWithShape="0">
              <a:srgbClr val="7030A0">
                <a:alpha val="13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B8AEF0B-B41D-61EB-C7FB-172D29876479}"/>
              </a:ext>
            </a:extLst>
          </p:cNvPr>
          <p:cNvSpPr/>
          <p:nvPr/>
        </p:nvSpPr>
        <p:spPr>
          <a:xfrm>
            <a:off x="3900487" y="292411"/>
            <a:ext cx="4391025" cy="621367"/>
          </a:xfrm>
          <a:prstGeom prst="roundRect">
            <a:avLst>
              <a:gd name="adj" fmla="val 50000"/>
            </a:avLst>
          </a:prstGeom>
          <a:solidFill>
            <a:srgbClr val="FDFDFD"/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7ADD1B-3415-0C90-9B03-CD2E01B85050}"/>
              </a:ext>
            </a:extLst>
          </p:cNvPr>
          <p:cNvSpPr txBox="1"/>
          <p:nvPr/>
        </p:nvSpPr>
        <p:spPr>
          <a:xfrm>
            <a:off x="4910642" y="310706"/>
            <a:ext cx="237071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cs typeface="Segoe UI Semibold" panose="020B0702040204020203" pitchFamily="34" charset="0"/>
              </a:rPr>
              <a:t>Architecture</a:t>
            </a:r>
            <a:endParaRPr lang="en-IN" sz="32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  <a:cs typeface="Segoe UI Semibold" panose="020B07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FB149B-35CC-5206-370B-229EF4872CE2}"/>
              </a:ext>
            </a:extLst>
          </p:cNvPr>
          <p:cNvSpPr txBox="1"/>
          <p:nvPr/>
        </p:nvSpPr>
        <p:spPr>
          <a:xfrm>
            <a:off x="679527" y="1651099"/>
            <a:ext cx="6197134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ptos" panose="020B0004020202020204" pitchFamily="34" charset="0"/>
              </a:rPr>
              <a:t>Victim Phone:</a:t>
            </a:r>
            <a:r>
              <a:rPr lang="en-US" sz="1600" dirty="0">
                <a:latin typeface="Aptos" panose="020B0004020202020204" pitchFamily="34" charset="0"/>
              </a:rPr>
              <a:t> This represents the smartphone carried by the woman who needs to use the safety features of the application.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Aptos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ptos" panose="020B0004020202020204" pitchFamily="34" charset="0"/>
              </a:rPr>
              <a:t>Guardian Phone(s):</a:t>
            </a:r>
            <a:r>
              <a:rPr lang="en-US" sz="1600" dirty="0">
                <a:latin typeface="Aptos" panose="020B0004020202020204" pitchFamily="34" charset="0"/>
              </a:rPr>
              <a:t> These represent the smartphones of pre-defined contacts (guardians) who will receive alerts when the victim triggers a safety feature. There can be multiple guardian phones configured in the app.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Aptos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ptos" panose="020B0004020202020204" pitchFamily="34" charset="0"/>
              </a:rPr>
              <a:t>Server:</a:t>
            </a:r>
            <a:r>
              <a:rPr lang="en-US" sz="1600" dirty="0">
                <a:latin typeface="Aptos" panose="020B0004020202020204" pitchFamily="34" charset="0"/>
              </a:rPr>
              <a:t> This is a central server that coordinates communication between the victim's phone and the guardian phones. The victim's phone transmits alerts to the server, which then relays them to the designated guardian phones.</a:t>
            </a:r>
          </a:p>
          <a:p>
            <a:endParaRPr lang="en-US" sz="1600" dirty="0">
              <a:latin typeface="Aptos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ptos" panose="020B0004020202020204" pitchFamily="34" charset="0"/>
              </a:rPr>
              <a:t>Helpline:</a:t>
            </a:r>
            <a:r>
              <a:rPr lang="en-US" sz="1600" dirty="0">
                <a:latin typeface="Aptos" panose="020B0004020202020204" pitchFamily="34" charset="0"/>
              </a:rPr>
              <a:t> The architecture also includes a helpline number, which the victim can potentially access through the app to connect with emergency services.</a:t>
            </a:r>
          </a:p>
          <a:p>
            <a:endParaRPr lang="en-IN" sz="1600" dirty="0"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4591D16-C9CC-CC4C-F9DF-E8FBC1684B45}"/>
              </a:ext>
            </a:extLst>
          </p:cNvPr>
          <p:cNvSpPr/>
          <p:nvPr/>
        </p:nvSpPr>
        <p:spPr>
          <a:xfrm>
            <a:off x="7084672" y="2011089"/>
            <a:ext cx="4794669" cy="3589086"/>
          </a:xfrm>
          <a:prstGeom prst="roundRect">
            <a:avLst>
              <a:gd name="adj" fmla="val 5855"/>
            </a:avLst>
          </a:prstGeom>
          <a:solidFill>
            <a:srgbClr val="FDFDFD"/>
          </a:solidFill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152400" sx="103000" sy="103000" algn="ctr" rotWithShape="0">
              <a:srgbClr val="7030A0">
                <a:alpha val="13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7A8BD70-CE1F-0552-02BB-A43957C53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8170" y="2063395"/>
            <a:ext cx="3793618" cy="345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378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311281-A26F-F9C4-CE2A-0D36279A47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BAB1591-93D4-B15E-53CD-5FC4CB06F7BC}"/>
              </a:ext>
            </a:extLst>
          </p:cNvPr>
          <p:cNvSpPr/>
          <p:nvPr/>
        </p:nvSpPr>
        <p:spPr>
          <a:xfrm>
            <a:off x="465753" y="819150"/>
            <a:ext cx="5763597" cy="5514975"/>
          </a:xfrm>
          <a:prstGeom prst="roundRect">
            <a:avLst>
              <a:gd name="adj" fmla="val 5855"/>
            </a:avLst>
          </a:prstGeom>
          <a:solidFill>
            <a:srgbClr val="FDFDFD"/>
          </a:solidFill>
          <a:ln>
            <a:noFill/>
          </a:ln>
          <a:effectLst>
            <a:outerShdw blurRad="152400" sx="103000" sy="103000" algn="ctr" rotWithShape="0">
              <a:srgbClr val="7030A0">
                <a:alpha val="13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1D835C3-61DE-7F4A-2CA1-046B89FA09AD}"/>
              </a:ext>
            </a:extLst>
          </p:cNvPr>
          <p:cNvGrpSpPr/>
          <p:nvPr/>
        </p:nvGrpSpPr>
        <p:grpSpPr>
          <a:xfrm>
            <a:off x="1237109" y="1750448"/>
            <a:ext cx="4220884" cy="3655323"/>
            <a:chOff x="1341716" y="2423674"/>
            <a:chExt cx="3590806" cy="3025062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4131C37-B2EF-FCA9-51EA-833F245E9B84}"/>
                </a:ext>
              </a:extLst>
            </p:cNvPr>
            <p:cNvSpPr/>
            <p:nvPr/>
          </p:nvSpPr>
          <p:spPr>
            <a:xfrm>
              <a:off x="1341716" y="2423674"/>
              <a:ext cx="3590806" cy="3025062"/>
            </a:xfrm>
            <a:prstGeom prst="roundRect">
              <a:avLst>
                <a:gd name="adj" fmla="val 6891"/>
              </a:avLst>
            </a:prstGeom>
            <a:solidFill>
              <a:schemeClr val="bg1"/>
            </a:solidFill>
            <a:ln>
              <a:noFill/>
            </a:ln>
            <a:effectLst>
              <a:outerShdw blurRad="152400" sx="103000" sy="103000" algn="ctr" rotWithShape="0">
                <a:srgbClr val="7030A0">
                  <a:alpha val="13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BB93572-E4A2-3879-40FB-9372144A54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38" t="11250" r="8020" b="13333"/>
            <a:stretch/>
          </p:blipFill>
          <p:spPr>
            <a:xfrm>
              <a:off x="1508283" y="2505509"/>
              <a:ext cx="3188637" cy="2861391"/>
            </a:xfrm>
            <a:prstGeom prst="roundRect">
              <a:avLst>
                <a:gd name="adj" fmla="val 3960"/>
              </a:avLst>
            </a:prstGeom>
          </p:spPr>
        </p:pic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B8AEF0B-B41D-61EB-C7FB-172D29876479}"/>
              </a:ext>
            </a:extLst>
          </p:cNvPr>
          <p:cNvSpPr/>
          <p:nvPr/>
        </p:nvSpPr>
        <p:spPr>
          <a:xfrm>
            <a:off x="6854721" y="1122027"/>
            <a:ext cx="4391025" cy="621367"/>
          </a:xfrm>
          <a:prstGeom prst="roundRect">
            <a:avLst>
              <a:gd name="adj" fmla="val 50000"/>
            </a:avLst>
          </a:prstGeom>
          <a:solidFill>
            <a:srgbClr val="FDFDFD"/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E5CDCD7-A24B-A39A-02C5-92F32463361D}"/>
              </a:ext>
            </a:extLst>
          </p:cNvPr>
          <p:cNvGrpSpPr/>
          <p:nvPr/>
        </p:nvGrpSpPr>
        <p:grpSpPr>
          <a:xfrm>
            <a:off x="7790254" y="1133453"/>
            <a:ext cx="2164742" cy="616995"/>
            <a:chOff x="7790254" y="1133453"/>
            <a:chExt cx="2164742" cy="61699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D7ADD1B-3415-0C90-9B03-CD2E01B85050}"/>
                </a:ext>
              </a:extLst>
            </p:cNvPr>
            <p:cNvSpPr txBox="1"/>
            <p:nvPr/>
          </p:nvSpPr>
          <p:spPr>
            <a:xfrm>
              <a:off x="8425410" y="1133453"/>
              <a:ext cx="1529586" cy="61699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 Variable Display" pitchFamily="2" charset="0"/>
                  <a:cs typeface="Segoe UI Semibold" panose="020B0702040204020203" pitchFamily="34" charset="0"/>
                </a:rPr>
                <a:t>Features</a:t>
              </a:r>
              <a:endParaRPr lang="en-IN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Variable Display" pitchFamily="2" charset="0"/>
                <a:cs typeface="Segoe UI Semibold" panose="020B0702040204020203" pitchFamily="34" charset="0"/>
              </a:endParaRPr>
            </a:p>
          </p:txBody>
        </p:sp>
        <p:pic>
          <p:nvPicPr>
            <p:cNvPr id="18" name="Picture 6" descr="Key features - Free security icons">
              <a:extLst>
                <a:ext uri="{FF2B5EF4-FFF2-40B4-BE49-F238E27FC236}">
                  <a16:creationId xmlns:a16="http://schemas.microsoft.com/office/drawing/2014/main" id="{969D34A2-C9D6-2FE1-1EC0-AF0C51E354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duotone>
                <a:schemeClr val="accent3">
                  <a:shade val="45000"/>
                  <a:satMod val="135000"/>
                </a:schemeClr>
                <a:prstClr val="white"/>
              </a:duotone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90254" y="1201287"/>
              <a:ext cx="419026" cy="430421"/>
            </a:xfrm>
            <a:prstGeom prst="rect">
              <a:avLst/>
            </a:prstGeom>
            <a:noFill/>
          </p:spPr>
        </p:pic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F97F2176-F30F-8D87-BE4B-AE0400F49161}"/>
              </a:ext>
            </a:extLst>
          </p:cNvPr>
          <p:cNvSpPr txBox="1"/>
          <p:nvPr/>
        </p:nvSpPr>
        <p:spPr>
          <a:xfrm>
            <a:off x="7069556" y="2313433"/>
            <a:ext cx="5203724" cy="2976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cs typeface="Segoe UI Semibold" panose="020B0702040204020203" pitchFamily="34" charset="0"/>
              </a:rPr>
              <a:t>Emergency Contacts</a:t>
            </a:r>
            <a:endParaRPr lang="en-US" sz="3200" dirty="0">
              <a:latin typeface="Aptos" panose="020B0004020202020204" pitchFamily="34" charset="0"/>
              <a:cs typeface="Segoe UI Semibold" panose="020B07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3200" dirty="0">
                <a:latin typeface="Aptos" panose="020B0004020202020204" pitchFamily="34" charset="0"/>
                <a:cs typeface="Segoe UI Semibold" panose="020B0702040204020203" pitchFamily="34" charset="0"/>
              </a:rPr>
              <a:t>Safety Tips and Laws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Aptos" panose="020B0004020202020204" pitchFamily="34" charset="0"/>
                <a:cs typeface="Segoe UI Semibold" panose="020B0702040204020203" pitchFamily="34" charset="0"/>
              </a:rPr>
              <a:t>Distress</a:t>
            </a:r>
            <a:r>
              <a:rPr lang="en-US" sz="1800" dirty="0">
                <a:latin typeface="Aptos" panose="020B0004020202020204" pitchFamily="34" charset="0"/>
                <a:cs typeface="Segoe UI Semibold" panose="020B0702040204020203" pitchFamily="34" charset="0"/>
              </a:rPr>
              <a:t> </a:t>
            </a:r>
            <a:r>
              <a:rPr lang="en-US" sz="3200" dirty="0">
                <a:latin typeface="Aptos" panose="020B0004020202020204" pitchFamily="34" charset="0"/>
                <a:cs typeface="Segoe UI Semibold" panose="020B0702040204020203" pitchFamily="34" charset="0"/>
              </a:rPr>
              <a:t>Button (SOS)</a:t>
            </a:r>
          </a:p>
          <a:p>
            <a:pPr>
              <a:lnSpc>
                <a:spcPct val="150000"/>
              </a:lnSpc>
            </a:pPr>
            <a:r>
              <a:rPr lang="en-IN" sz="3200" dirty="0">
                <a:latin typeface="Aptos" panose="020B0004020202020204" pitchFamily="34" charset="0"/>
                <a:cs typeface="Segoe UI Semibold" panose="020B0702040204020203" pitchFamily="34" charset="0"/>
              </a:rPr>
              <a:t>Location Sharing via SMS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BBC8EE0-4DF7-AD59-7989-3E9026FC8EB0}"/>
              </a:ext>
            </a:extLst>
          </p:cNvPr>
          <p:cNvGrpSpPr/>
          <p:nvPr/>
        </p:nvGrpSpPr>
        <p:grpSpPr>
          <a:xfrm>
            <a:off x="6621349" y="2643242"/>
            <a:ext cx="375615" cy="2539569"/>
            <a:chOff x="6489269" y="2643242"/>
            <a:chExt cx="375615" cy="2539569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AB6DBF22-C1B9-E3F3-0B09-C549F380FEA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9269" y="2643242"/>
              <a:ext cx="375615" cy="375615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96A00AA3-B26B-1556-57BB-155FA08E22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9269" y="3388829"/>
              <a:ext cx="375615" cy="375615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1580DE1F-31E7-CBBE-8462-556F7CAEB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9269" y="4066708"/>
              <a:ext cx="375615" cy="375615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3CFBE635-EB4D-FE69-CBB1-E812369281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9269" y="4807196"/>
              <a:ext cx="375615" cy="3756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25769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BCA50A-84D9-CF77-09C8-F0A0CA9C97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8AB4F9F-0717-B7FE-9501-F85723203CC0}"/>
              </a:ext>
            </a:extLst>
          </p:cNvPr>
          <p:cNvSpPr/>
          <p:nvPr/>
        </p:nvSpPr>
        <p:spPr>
          <a:xfrm>
            <a:off x="966302" y="671513"/>
            <a:ext cx="10259397" cy="5514975"/>
          </a:xfrm>
          <a:prstGeom prst="roundRect">
            <a:avLst>
              <a:gd name="adj" fmla="val 6891"/>
            </a:avLst>
          </a:prstGeom>
          <a:solidFill>
            <a:srgbClr val="FDFDFD"/>
          </a:solidFill>
          <a:ln>
            <a:noFill/>
          </a:ln>
          <a:effectLst>
            <a:outerShdw blurRad="152400" sx="103000" sy="103000" algn="ctr" rotWithShape="0">
              <a:srgbClr val="7030A0">
                <a:alpha val="13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ECBA26E-2B5D-6AB5-CC12-FEBBA5DBEC5A}"/>
              </a:ext>
            </a:extLst>
          </p:cNvPr>
          <p:cNvSpPr/>
          <p:nvPr/>
        </p:nvSpPr>
        <p:spPr>
          <a:xfrm>
            <a:off x="2187914" y="981726"/>
            <a:ext cx="7816173" cy="621367"/>
          </a:xfrm>
          <a:prstGeom prst="roundRect">
            <a:avLst>
              <a:gd name="adj" fmla="val 50000"/>
            </a:avLst>
          </a:prstGeom>
          <a:solidFill>
            <a:srgbClr val="FDFDFD"/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41A7CC-DDA7-15EE-0C60-C07A1B19F620}"/>
              </a:ext>
            </a:extLst>
          </p:cNvPr>
          <p:cNvSpPr txBox="1"/>
          <p:nvPr/>
        </p:nvSpPr>
        <p:spPr>
          <a:xfrm>
            <a:off x="4970476" y="1030799"/>
            <a:ext cx="2251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Variable Display" pitchFamily="2" charset="0"/>
                <a:cs typeface="Segoe UI Semibold" panose="020B0702040204020203" pitchFamily="34" charset="0"/>
              </a:rPr>
              <a:t>Advantages</a:t>
            </a:r>
            <a:endParaRPr lang="en-IN" sz="2800" dirty="0">
              <a:solidFill>
                <a:schemeClr val="tx1">
                  <a:lumMod val="75000"/>
                  <a:lumOff val="25000"/>
                </a:schemeClr>
              </a:solidFill>
              <a:latin typeface="Segoe UI Variable Display" pitchFamily="2" charset="0"/>
              <a:cs typeface="Segoe UI Semibold" panose="020B0702040204020203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F56B5E8-6BEF-1EF5-9F52-24905F9F040C}"/>
              </a:ext>
            </a:extLst>
          </p:cNvPr>
          <p:cNvGrpSpPr/>
          <p:nvPr/>
        </p:nvGrpSpPr>
        <p:grpSpPr>
          <a:xfrm>
            <a:off x="1728914" y="2089742"/>
            <a:ext cx="6579723" cy="3292241"/>
            <a:chOff x="1728914" y="2089742"/>
            <a:chExt cx="6579723" cy="329224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E4CA1DE-F6D2-279B-62B5-BEF64B3EA30D}"/>
                </a:ext>
              </a:extLst>
            </p:cNvPr>
            <p:cNvSpPr txBox="1"/>
            <p:nvPr/>
          </p:nvSpPr>
          <p:spPr>
            <a:xfrm>
              <a:off x="2212637" y="2089742"/>
              <a:ext cx="6096000" cy="32618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dirty="0">
                  <a:latin typeface="Aptos" panose="020B0004020202020204" pitchFamily="34" charset="0"/>
                </a:rPr>
                <a:t>Help Alert</a:t>
              </a:r>
            </a:p>
            <a:p>
              <a:pPr>
                <a:lnSpc>
                  <a:spcPct val="150000"/>
                </a:lnSpc>
              </a:pPr>
              <a:r>
                <a:rPr lang="en-IN" sz="2800" dirty="0">
                  <a:latin typeface="Aptos" panose="020B0004020202020204" pitchFamily="34" charset="0"/>
                </a:rPr>
                <a:t>Enhanced Safety</a:t>
              </a:r>
            </a:p>
            <a:p>
              <a:pPr>
                <a:lnSpc>
                  <a:spcPct val="150000"/>
                </a:lnSpc>
              </a:pPr>
              <a:r>
                <a:rPr lang="en-IN" sz="2800" dirty="0">
                  <a:latin typeface="Aptos" panose="020B0004020202020204" pitchFamily="34" charset="0"/>
                </a:rPr>
                <a:t>Shifting social norms</a:t>
              </a:r>
            </a:p>
            <a:p>
              <a:pPr>
                <a:lnSpc>
                  <a:spcPct val="150000"/>
                </a:lnSpc>
              </a:pPr>
              <a:r>
                <a:rPr lang="en-US" sz="2800" dirty="0">
                  <a:latin typeface="Aptos" panose="020B0004020202020204" pitchFamily="34" charset="0"/>
                </a:rPr>
                <a:t>Location Sharing &amp; Real time tracking</a:t>
              </a:r>
              <a:endParaRPr lang="en-IN" sz="2800" dirty="0">
                <a:latin typeface="Aptos" panose="020B00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IN" sz="2800" dirty="0">
                  <a:latin typeface="Aptos" panose="020B0004020202020204" pitchFamily="34" charset="0"/>
                </a:rPr>
                <a:t>Increased reporting</a:t>
              </a:r>
              <a:endParaRPr lang="en-US" sz="2800" dirty="0">
                <a:latin typeface="Aptos" panose="020B0004020202020204" pitchFamily="34" charset="0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EDC8BC7-EB64-685A-7C8F-0330001222E2}"/>
                </a:ext>
              </a:extLst>
            </p:cNvPr>
            <p:cNvGrpSpPr/>
            <p:nvPr/>
          </p:nvGrpSpPr>
          <p:grpSpPr>
            <a:xfrm>
              <a:off x="1770874" y="2297756"/>
              <a:ext cx="441763" cy="441763"/>
              <a:chOff x="8522479" y="7434870"/>
              <a:chExt cx="441763" cy="441763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546CCF44-9EF4-6315-E335-06FB0B1790DC}"/>
                  </a:ext>
                </a:extLst>
              </p:cNvPr>
              <p:cNvSpPr/>
              <p:nvPr/>
            </p:nvSpPr>
            <p:spPr>
              <a:xfrm>
                <a:off x="8662408" y="7529512"/>
                <a:ext cx="161903" cy="161903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rgbClr val="FFFF00"/>
                  </a:solidFill>
                </a:endParaRPr>
              </a:p>
            </p:txBody>
          </p:sp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A4B964A9-88C2-8EA2-103E-34B5A30B3E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22479" y="7434870"/>
                <a:ext cx="441763" cy="441763"/>
              </a:xfrm>
              <a:prstGeom prst="rect">
                <a:avLst/>
              </a:prstGeom>
            </p:spPr>
          </p:pic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5791701-4674-4DFF-881C-4CF9E25CE520}"/>
                </a:ext>
              </a:extLst>
            </p:cNvPr>
            <p:cNvGrpSpPr/>
            <p:nvPr/>
          </p:nvGrpSpPr>
          <p:grpSpPr>
            <a:xfrm>
              <a:off x="1728914" y="2969268"/>
              <a:ext cx="441763" cy="441763"/>
              <a:chOff x="8522479" y="7434870"/>
              <a:chExt cx="441763" cy="441763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1C10358-8EB3-DD47-7E72-31F7B7B0FC02}"/>
                  </a:ext>
                </a:extLst>
              </p:cNvPr>
              <p:cNvSpPr/>
              <p:nvPr/>
            </p:nvSpPr>
            <p:spPr>
              <a:xfrm>
                <a:off x="8662408" y="7529512"/>
                <a:ext cx="161903" cy="161903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rgbClr val="FFFF00"/>
                  </a:solidFill>
                </a:endParaRPr>
              </a:p>
            </p:txBody>
          </p:sp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1CCAC76A-EC4D-925C-7F81-1426F36218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22479" y="7434870"/>
                <a:ext cx="441763" cy="441763"/>
              </a:xfrm>
              <a:prstGeom prst="rect">
                <a:avLst/>
              </a:prstGeom>
            </p:spPr>
          </p:pic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26E802B-7035-388E-3852-CEDC5C71AC8E}"/>
                </a:ext>
              </a:extLst>
            </p:cNvPr>
            <p:cNvGrpSpPr/>
            <p:nvPr/>
          </p:nvGrpSpPr>
          <p:grpSpPr>
            <a:xfrm>
              <a:off x="1728914" y="3588076"/>
              <a:ext cx="441763" cy="441763"/>
              <a:chOff x="8522479" y="7434870"/>
              <a:chExt cx="441763" cy="441763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3817462-919B-96CC-C4FB-D1D1E3B9EE72}"/>
                  </a:ext>
                </a:extLst>
              </p:cNvPr>
              <p:cNvSpPr/>
              <p:nvPr/>
            </p:nvSpPr>
            <p:spPr>
              <a:xfrm>
                <a:off x="8662408" y="7529512"/>
                <a:ext cx="161903" cy="161903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rgbClr val="FFFF00"/>
                  </a:solidFill>
                </a:endParaRPr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EA05706C-4051-BCDC-8F52-3ADB6559D9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22479" y="7434870"/>
                <a:ext cx="441763" cy="441763"/>
              </a:xfrm>
              <a:prstGeom prst="rect">
                <a:avLst/>
              </a:prstGeom>
            </p:spPr>
          </p:pic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C3127D3-BCBF-09F8-8F2B-EB8665D5AE46}"/>
                </a:ext>
              </a:extLst>
            </p:cNvPr>
            <p:cNvGrpSpPr/>
            <p:nvPr/>
          </p:nvGrpSpPr>
          <p:grpSpPr>
            <a:xfrm>
              <a:off x="1728914" y="4259588"/>
              <a:ext cx="441763" cy="441763"/>
              <a:chOff x="8522479" y="7434870"/>
              <a:chExt cx="441763" cy="441763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B9041B55-CCEE-FED9-8253-A9EA32988D8C}"/>
                  </a:ext>
                </a:extLst>
              </p:cNvPr>
              <p:cNvSpPr/>
              <p:nvPr/>
            </p:nvSpPr>
            <p:spPr>
              <a:xfrm>
                <a:off x="8662408" y="7529512"/>
                <a:ext cx="161903" cy="161903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rgbClr val="FFFF00"/>
                  </a:solidFill>
                </a:endParaRPr>
              </a:p>
            </p:txBody>
          </p:sp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BB328AE7-99E4-3651-9A00-DE5ADD0DBA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22479" y="7434870"/>
                <a:ext cx="441763" cy="441763"/>
              </a:xfrm>
              <a:prstGeom prst="rect">
                <a:avLst/>
              </a:prstGeom>
            </p:spPr>
          </p:pic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0031585A-BF63-E66A-2A9E-EB187B7C79AE}"/>
                </a:ext>
              </a:extLst>
            </p:cNvPr>
            <p:cNvGrpSpPr/>
            <p:nvPr/>
          </p:nvGrpSpPr>
          <p:grpSpPr>
            <a:xfrm>
              <a:off x="1741383" y="4940220"/>
              <a:ext cx="441763" cy="441763"/>
              <a:chOff x="8382548" y="7963102"/>
              <a:chExt cx="441763" cy="441763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55EF99A0-FBFC-6714-1873-88008D56746C}"/>
                  </a:ext>
                </a:extLst>
              </p:cNvPr>
              <p:cNvSpPr/>
              <p:nvPr/>
            </p:nvSpPr>
            <p:spPr>
              <a:xfrm>
                <a:off x="8510007" y="8048624"/>
                <a:ext cx="161903" cy="161903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rgbClr val="FFFF00"/>
                  </a:solidFill>
                </a:endParaRPr>
              </a:p>
            </p:txBody>
          </p:sp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328BF9D5-48DA-6660-1A0E-C00B74CE45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382548" y="7963102"/>
                <a:ext cx="441763" cy="441763"/>
              </a:xfrm>
              <a:prstGeom prst="rect">
                <a:avLst/>
              </a:prstGeom>
            </p:spPr>
          </p:pic>
        </p:grpSp>
      </p:grpSp>
      <p:pic>
        <p:nvPicPr>
          <p:cNvPr id="1026" name="Picture 2" descr="graphic of a businesswoman in front of a slide presentation">
            <a:extLst>
              <a:ext uri="{FF2B5EF4-FFF2-40B4-BE49-F238E27FC236}">
                <a16:creationId xmlns:a16="http://schemas.microsoft.com/office/drawing/2014/main" id="{B6C24EE5-C200-CF89-3C01-A584D34A3B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7645" y="3682718"/>
            <a:ext cx="2574364" cy="1598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ap light concept illustration">
            <a:extLst>
              <a:ext uri="{FF2B5EF4-FFF2-40B4-BE49-F238E27FC236}">
                <a16:creationId xmlns:a16="http://schemas.microsoft.com/office/drawing/2014/main" id="{8870BD36-82C2-DA87-19FC-D9F189573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36901" y1="35783" x2="35304" y2="31629"/>
                        <a14:foregroundMark x1="46965" y1="56390" x2="44249" y2="63419"/>
                        <a14:foregroundMark x1="84185" y1="33227" x2="78594" y2="3242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4510" y="1445473"/>
            <a:ext cx="2754621" cy="2754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8300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13B6B-B45A-062A-7C14-C70DEB283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3CBB27-D487-65F0-C7DE-CF3B0C4A5C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915E6A8-EC52-A001-8ADD-A672BAA4B09E}"/>
              </a:ext>
            </a:extLst>
          </p:cNvPr>
          <p:cNvSpPr/>
          <p:nvPr/>
        </p:nvSpPr>
        <p:spPr>
          <a:xfrm>
            <a:off x="966302" y="671513"/>
            <a:ext cx="10259397" cy="5514975"/>
          </a:xfrm>
          <a:prstGeom prst="roundRect">
            <a:avLst>
              <a:gd name="adj" fmla="val 6891"/>
            </a:avLst>
          </a:prstGeom>
          <a:solidFill>
            <a:srgbClr val="FDFDFD"/>
          </a:solidFill>
          <a:ln>
            <a:noFill/>
          </a:ln>
          <a:effectLst>
            <a:outerShdw blurRad="152400" sx="103000" sy="103000" algn="ctr" rotWithShape="0">
              <a:srgbClr val="7030A0">
                <a:alpha val="13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095436E-7799-2630-B080-B5FC4732F038}"/>
              </a:ext>
            </a:extLst>
          </p:cNvPr>
          <p:cNvSpPr/>
          <p:nvPr/>
        </p:nvSpPr>
        <p:spPr>
          <a:xfrm>
            <a:off x="2187914" y="1028027"/>
            <a:ext cx="7816173" cy="621367"/>
          </a:xfrm>
          <a:prstGeom prst="roundRect">
            <a:avLst>
              <a:gd name="adj" fmla="val 50000"/>
            </a:avLst>
          </a:prstGeom>
          <a:solidFill>
            <a:srgbClr val="FDFDFD"/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26C14C-28F5-05C0-0E89-A8FEAD3E8B02}"/>
              </a:ext>
            </a:extLst>
          </p:cNvPr>
          <p:cNvSpPr txBox="1"/>
          <p:nvPr/>
        </p:nvSpPr>
        <p:spPr>
          <a:xfrm>
            <a:off x="5129377" y="1077100"/>
            <a:ext cx="19332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Variable Display" pitchFamily="2" charset="0"/>
                <a:cs typeface="Segoe UI Semibold" panose="020B0702040204020203" pitchFamily="34" charset="0"/>
              </a:rPr>
              <a:t>Drawbacks</a:t>
            </a:r>
            <a:endParaRPr lang="en-IN" sz="2800" dirty="0">
              <a:solidFill>
                <a:schemeClr val="tx1">
                  <a:lumMod val="75000"/>
                  <a:lumOff val="25000"/>
                </a:schemeClr>
              </a:solidFill>
              <a:latin typeface="Segoe UI Variable Display" pitchFamily="2" charset="0"/>
              <a:cs typeface="Segoe UI Semibold" panose="020B0702040204020203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EAC31CD-33BF-49A3-C968-2E0CC01E55CE}"/>
              </a:ext>
            </a:extLst>
          </p:cNvPr>
          <p:cNvGrpSpPr/>
          <p:nvPr/>
        </p:nvGrpSpPr>
        <p:grpSpPr>
          <a:xfrm>
            <a:off x="1793094" y="1728376"/>
            <a:ext cx="8684934" cy="4047693"/>
            <a:chOff x="1793094" y="1728376"/>
            <a:chExt cx="8684934" cy="404769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5018933-3B80-B4E6-24DE-ED4E2F124D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>
                          <a14:foregroundMark x1="18997" y1="40695" x2="18734" y2="29032"/>
                          <a14:foregroundMark x1="22955" y1="30769" x2="26121" y2="34988"/>
                          <a14:foregroundMark x1="50396" y1="48387" x2="51979" y2="29777"/>
                          <a14:foregroundMark x1="39314" y1="45658" x2="35884" y2="59057"/>
                          <a14:foregroundMark x1="56201" y1="46402" x2="52243" y2="49132"/>
                          <a14:foregroundMark x1="52243" y1="49132" x2="57256" y2="52605"/>
                          <a14:foregroundMark x1="82058" y1="52854" x2="80211" y2="40199"/>
                          <a14:foregroundMark x1="80211" y1="40199" x2="76517" y2="26303"/>
                          <a14:foregroundMark x1="76517" y1="26303" x2="69657" y2="25310"/>
                          <a14:foregroundMark x1="78364" y1="41439" x2="80475" y2="29777"/>
                          <a14:foregroundMark x1="80475" y1="30025" x2="81003" y2="32754"/>
                          <a14:foregroundMark x1="82058" y1="28784" x2="82850" y2="33002"/>
                          <a14:foregroundMark x1="80739" y1="42928" x2="82586" y2="49132"/>
                          <a14:foregroundMark x1="82586" y1="56328" x2="83377" y2="44913"/>
                          <a14:foregroundMark x1="83113" y1="73201" x2="83113" y2="59553"/>
                          <a14:foregroundMark x1="29815" y1="77419" x2="29815" y2="77419"/>
                          <a14:foregroundMark x1="23219" y1="72457" x2="23219" y2="7245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71389" y="1728376"/>
              <a:ext cx="3806639" cy="4047693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8B57952-E9FC-D566-E59E-17275E39840B}"/>
                </a:ext>
              </a:extLst>
            </p:cNvPr>
            <p:cNvSpPr txBox="1"/>
            <p:nvPr/>
          </p:nvSpPr>
          <p:spPr>
            <a:xfrm>
              <a:off x="2209064" y="2457387"/>
              <a:ext cx="6096000" cy="22373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IN" sz="3200" dirty="0">
                  <a:latin typeface="Aptos" panose="020B0004020202020204" pitchFamily="34" charset="0"/>
                </a:rPr>
                <a:t> Privacy Concerns</a:t>
              </a:r>
            </a:p>
            <a:p>
              <a:pPr>
                <a:lnSpc>
                  <a:spcPct val="150000"/>
                </a:lnSpc>
              </a:pPr>
              <a:r>
                <a:rPr lang="en-IN" sz="3200" dirty="0">
                  <a:latin typeface="Aptos" panose="020B0004020202020204" pitchFamily="34" charset="0"/>
                </a:rPr>
                <a:t> Risk of False Alarm</a:t>
              </a:r>
            </a:p>
            <a:p>
              <a:pPr>
                <a:lnSpc>
                  <a:spcPct val="150000"/>
                </a:lnSpc>
              </a:pPr>
              <a:r>
                <a:rPr lang="en-IN" sz="3200" dirty="0">
                  <a:latin typeface="Aptos" panose="020B0004020202020204" pitchFamily="34" charset="0"/>
                </a:rPr>
                <a:t> Limited Technical Reach</a:t>
              </a: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310A534B-7D9F-4BE6-DE6B-5D213D0CE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8403" b="94958" l="9586" r="89325">
                          <a14:foregroundMark x1="44444" y1="22409" x2="48584" y2="74230"/>
                          <a14:foregroundMark x1="48584" y1="74230" x2="45534" y2="91036"/>
                          <a14:foregroundMark x1="45534" y1="91036" x2="40741" y2="46499"/>
                          <a14:foregroundMark x1="43137" y1="91036" x2="43137" y2="94958"/>
                          <a14:foregroundMark x1="35730" y1="40056" x2="42484" y2="34734"/>
                          <a14:foregroundMark x1="41394" y1="13165" x2="41394" y2="8683"/>
                          <a14:foregroundMark x1="9586" y1="45658" x2="10022" y2="48179"/>
                          <a14:foregroundMark x1="12200" y1="40896" x2="10022" y2="38936"/>
                          <a14:foregroundMark x1="10458" y1="39496" x2="10458" y2="39496"/>
                          <a14:foregroundMark x1="9804" y1="40056" x2="9804" y2="38655"/>
                          <a14:foregroundMark x1="11111" y1="33333" x2="10458" y2="38375"/>
                          <a14:foregroundMark x1="10458" y1="36975" x2="9804" y2="38936"/>
                          <a14:foregroundMark x1="10022" y1="37815" x2="9586" y2="39216"/>
                          <a14:foregroundMark x1="9586" y1="62745" x2="9586" y2="64426"/>
                          <a14:foregroundMark x1="9804" y1="64426" x2="10675" y2="666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98527" y="2745626"/>
              <a:ext cx="423438" cy="329341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FFE9F1A9-DE71-F1BC-48BB-F0961F708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8403" b="94958" l="9586" r="89325">
                          <a14:foregroundMark x1="44444" y1="22409" x2="48584" y2="74230"/>
                          <a14:foregroundMark x1="48584" y1="74230" x2="45534" y2="91036"/>
                          <a14:foregroundMark x1="45534" y1="91036" x2="40741" y2="46499"/>
                          <a14:foregroundMark x1="43137" y1="91036" x2="43137" y2="94958"/>
                          <a14:foregroundMark x1="35730" y1="40056" x2="42484" y2="34734"/>
                          <a14:foregroundMark x1="41394" y1="13165" x2="41394" y2="8683"/>
                          <a14:foregroundMark x1="9586" y1="45658" x2="10022" y2="48179"/>
                          <a14:foregroundMark x1="12200" y1="40896" x2="10022" y2="38936"/>
                          <a14:foregroundMark x1="10458" y1="39496" x2="10458" y2="39496"/>
                          <a14:foregroundMark x1="9804" y1="40056" x2="9804" y2="38655"/>
                          <a14:foregroundMark x1="11111" y1="33333" x2="10458" y2="38375"/>
                          <a14:foregroundMark x1="10458" y1="36975" x2="9804" y2="38936"/>
                          <a14:foregroundMark x1="10022" y1="37815" x2="9586" y2="39216"/>
                          <a14:foregroundMark x1="9586" y1="62745" x2="9586" y2="64426"/>
                          <a14:foregroundMark x1="9804" y1="64426" x2="10675" y2="666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93094" y="3479275"/>
              <a:ext cx="423438" cy="329341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4149D35D-37D7-AD62-2EBD-FB7BED4CB3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8403" b="94958" l="9586" r="89325">
                          <a14:foregroundMark x1="44444" y1="22409" x2="48584" y2="74230"/>
                          <a14:foregroundMark x1="48584" y1="74230" x2="45534" y2="91036"/>
                          <a14:foregroundMark x1="45534" y1="91036" x2="40741" y2="46499"/>
                          <a14:foregroundMark x1="43137" y1="91036" x2="43137" y2="94958"/>
                          <a14:foregroundMark x1="35730" y1="40056" x2="42484" y2="34734"/>
                          <a14:foregroundMark x1="41394" y1="13165" x2="41394" y2="8683"/>
                          <a14:foregroundMark x1="9586" y1="45658" x2="10022" y2="48179"/>
                          <a14:foregroundMark x1="12200" y1="40896" x2="10022" y2="38936"/>
                          <a14:foregroundMark x1="10458" y1="39496" x2="10458" y2="39496"/>
                          <a14:foregroundMark x1="9804" y1="40056" x2="9804" y2="38655"/>
                          <a14:foregroundMark x1="11111" y1="33333" x2="10458" y2="38375"/>
                          <a14:foregroundMark x1="10458" y1="36975" x2="9804" y2="38936"/>
                          <a14:foregroundMark x1="10022" y1="37815" x2="9586" y2="39216"/>
                          <a14:foregroundMark x1="9586" y1="62745" x2="9586" y2="64426"/>
                          <a14:foregroundMark x1="9804" y1="64426" x2="10675" y2="666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93094" y="4200093"/>
              <a:ext cx="423438" cy="3293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38812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659D-D0B1-8B6D-F3D0-7E6E95D41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94614C-0099-8276-5532-3DE2E0A3FC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ADE05F50-D39D-92AC-5F23-FBDBB8EF344A}"/>
              </a:ext>
            </a:extLst>
          </p:cNvPr>
          <p:cNvGrpSpPr/>
          <p:nvPr/>
        </p:nvGrpSpPr>
        <p:grpSpPr>
          <a:xfrm>
            <a:off x="2032287" y="3656482"/>
            <a:ext cx="8071399" cy="2453010"/>
            <a:chOff x="2032287" y="3656482"/>
            <a:chExt cx="8071399" cy="245301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EB1FA29B-C25D-7774-044A-3B997BB61827}"/>
                </a:ext>
              </a:extLst>
            </p:cNvPr>
            <p:cNvSpPr/>
            <p:nvPr/>
          </p:nvSpPr>
          <p:spPr>
            <a:xfrm>
              <a:off x="2032288" y="3666265"/>
              <a:ext cx="8071398" cy="694039"/>
            </a:xfrm>
            <a:prstGeom prst="roundRect">
              <a:avLst>
                <a:gd name="adj" fmla="val 50000"/>
              </a:avLst>
            </a:prstGeom>
            <a:solidFill>
              <a:srgbClr val="FF000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2BD0B75E-0E02-3B57-5F6D-61C6C3FFE520}"/>
                </a:ext>
              </a:extLst>
            </p:cNvPr>
            <p:cNvSpPr/>
            <p:nvPr/>
          </p:nvSpPr>
          <p:spPr>
            <a:xfrm>
              <a:off x="2032287" y="5424846"/>
              <a:ext cx="8071398" cy="661407"/>
            </a:xfrm>
            <a:prstGeom prst="roundRect">
              <a:avLst>
                <a:gd name="adj" fmla="val 50000"/>
              </a:avLst>
            </a:prstGeom>
            <a:solidFill>
              <a:srgbClr val="FF000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FE1188DA-2CD8-5D88-F1B7-B7E756835867}"/>
                </a:ext>
              </a:extLst>
            </p:cNvPr>
            <p:cNvSpPr/>
            <p:nvPr/>
          </p:nvSpPr>
          <p:spPr>
            <a:xfrm>
              <a:off x="2032287" y="4561871"/>
              <a:ext cx="8071398" cy="661407"/>
            </a:xfrm>
            <a:prstGeom prst="roundRect">
              <a:avLst>
                <a:gd name="adj" fmla="val 50000"/>
              </a:avLst>
            </a:prstGeom>
            <a:solidFill>
              <a:srgbClr val="FF0000">
                <a:alpha val="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l" rtl="0" eaLnBrk="1" latinLnBrk="0" hangingPunct="1">
                <a:spcBef>
                  <a:spcPts val="0"/>
                </a:spcBef>
                <a:spcAft>
                  <a:spcPts val="0"/>
                </a:spcAft>
              </a:pPr>
              <a:endParaRPr lang="en-IN" sz="2400" dirty="0">
                <a:solidFill>
                  <a:srgbClr val="002060"/>
                </a:solidFill>
                <a:effectLst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10B72C5-48A7-609C-9A84-C4B124D3C788}"/>
                </a:ext>
              </a:extLst>
            </p:cNvPr>
            <p:cNvSpPr txBox="1"/>
            <p:nvPr/>
          </p:nvSpPr>
          <p:spPr>
            <a:xfrm>
              <a:off x="3351872" y="3656482"/>
              <a:ext cx="5406576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Personal Safety and Security of Women by Leveraging Technology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C1E3BB9-C40A-08C8-F1AB-A08C611093CF}"/>
                </a:ext>
              </a:extLst>
            </p:cNvPr>
            <p:cNvSpPr txBox="1"/>
            <p:nvPr/>
          </p:nvSpPr>
          <p:spPr>
            <a:xfrm>
              <a:off x="3495600" y="4692519"/>
              <a:ext cx="51447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kern="1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Aptos" panose="020B0004020202020204" pitchFamily="34" charset="0"/>
                </a:rPr>
                <a:t>P</a:t>
              </a:r>
              <a:r>
                <a:rPr lang="en-US" sz="2000" i="0" kern="12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Aptos" panose="020B0004020202020204" pitchFamily="34" charset="0"/>
                </a:rPr>
                <a:t>roviding a Sense of Autonomy and Control 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2BD338F-8A72-B1EF-E7F2-7B7DF0579982}"/>
                </a:ext>
              </a:extLst>
            </p:cNvPr>
            <p:cNvSpPr txBox="1"/>
            <p:nvPr/>
          </p:nvSpPr>
          <p:spPr>
            <a:xfrm>
              <a:off x="3129840" y="5401606"/>
              <a:ext cx="587629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Raising Awareness and Public Education by Breaking Barriers</a:t>
              </a:r>
              <a:endParaRPr lang="en-I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</p:grp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4F2AC02-DF43-9601-76B3-9C5BE691BAB7}"/>
              </a:ext>
            </a:extLst>
          </p:cNvPr>
          <p:cNvSpPr/>
          <p:nvPr/>
        </p:nvSpPr>
        <p:spPr>
          <a:xfrm>
            <a:off x="2187914" y="765577"/>
            <a:ext cx="7816173" cy="621367"/>
          </a:xfrm>
          <a:prstGeom prst="roundRect">
            <a:avLst>
              <a:gd name="adj" fmla="val 50000"/>
            </a:avLst>
          </a:prstGeom>
          <a:solidFill>
            <a:srgbClr val="FDFDFD"/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F503C9-02B6-09ED-0921-2332BFFCD0E0}"/>
              </a:ext>
            </a:extLst>
          </p:cNvPr>
          <p:cNvSpPr txBox="1"/>
          <p:nvPr/>
        </p:nvSpPr>
        <p:spPr>
          <a:xfrm>
            <a:off x="5381287" y="825730"/>
            <a:ext cx="1645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Variable Display" pitchFamily="2" charset="0"/>
                <a:cs typeface="Segoe UI Semibold" panose="020B0702040204020203" pitchFamily="34" charset="0"/>
              </a:rPr>
              <a:t>Purpose</a:t>
            </a:r>
            <a:endParaRPr lang="en-IN" sz="2800" dirty="0">
              <a:solidFill>
                <a:schemeClr val="tx1">
                  <a:lumMod val="75000"/>
                  <a:lumOff val="25000"/>
                </a:schemeClr>
              </a:solidFill>
              <a:latin typeface="Segoe UI Variable Display" pitchFamily="2" charset="0"/>
              <a:cs typeface="Segoe UI Semibold" panose="020B0702040204020203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D662FC4-E296-2247-5491-DFEA6023DD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20060" y1="37371" x2="20060" y2="37371"/>
                        <a14:foregroundMark x1="17066" y1="25773" x2="17066" y2="25773"/>
                        <a14:foregroundMark x1="19760" y1="14948" x2="19760" y2="14948"/>
                        <a14:foregroundMark x1="49701" y1="9794" x2="49701" y2="9794"/>
                        <a14:foregroundMark x1="76946" y1="17268" x2="76946" y2="17268"/>
                        <a14:foregroundMark x1="79641" y1="26546" x2="79641" y2="26546"/>
                        <a14:foregroundMark x1="80539" y1="38660" x2="80539" y2="38660"/>
                        <a14:foregroundMark x1="49102" y1="76031" x2="49102" y2="760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3860" y="854738"/>
            <a:ext cx="400459" cy="465204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5353DE0-CAB8-5B2F-3C99-F1A2794BB55D}"/>
              </a:ext>
            </a:extLst>
          </p:cNvPr>
          <p:cNvGrpSpPr/>
          <p:nvPr/>
        </p:nvGrpSpPr>
        <p:grpSpPr>
          <a:xfrm>
            <a:off x="2079667" y="1743539"/>
            <a:ext cx="7816172" cy="1596988"/>
            <a:chOff x="2079667" y="1743539"/>
            <a:chExt cx="7816172" cy="1596988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9596762D-70AF-75AF-F51F-560CA3150C29}"/>
                </a:ext>
              </a:extLst>
            </p:cNvPr>
            <p:cNvSpPr/>
            <p:nvPr/>
          </p:nvSpPr>
          <p:spPr>
            <a:xfrm>
              <a:off x="2079667" y="1743539"/>
              <a:ext cx="7816172" cy="1596988"/>
            </a:xfrm>
            <a:prstGeom prst="roundRect">
              <a:avLst/>
            </a:prstGeom>
            <a:solidFill>
              <a:srgbClr val="F7F7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9F5F323-3DD5-448D-9661-5318A017E2B8}"/>
                </a:ext>
              </a:extLst>
            </p:cNvPr>
            <p:cNvSpPr txBox="1"/>
            <p:nvPr/>
          </p:nvSpPr>
          <p:spPr>
            <a:xfrm>
              <a:off x="3680161" y="1957258"/>
              <a:ext cx="5898560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50" b="0" i="0" dirty="0">
                  <a:solidFill>
                    <a:schemeClr val="tx2">
                      <a:lumMod val="50000"/>
                    </a:schemeClr>
                  </a:solidFill>
                  <a:effectLst/>
                  <a:latin typeface="Arial Rounded MT Bold" panose="020F0704030504030204" pitchFamily="34" charset="0"/>
                </a:rPr>
                <a:t>The need for women's safety apps arises from the unfortunate reality that women, like any other demographic, can face various safety concerns and potential threats in their daily lives.</a:t>
              </a:r>
              <a:endParaRPr lang="en-IN" sz="1750" dirty="0">
                <a:solidFill>
                  <a:schemeClr val="tx2">
                    <a:lumMod val="50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712E99F8-7445-DAD5-7FCB-820338AE8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>
                          <a14:foregroundMark x1="15802" y1="23901" x2="15802" y2="23901"/>
                          <a14:foregroundMark x1="21226" y1="32692" x2="21226" y2="32692"/>
                          <a14:foregroundMark x1="41038" y1="56319" x2="41038" y2="56319"/>
                          <a14:foregroundMark x1="56604" y1="77473" x2="56604" y2="77473"/>
                          <a14:foregroundMark x1="50472" y1="83516" x2="50472" y2="83516"/>
                          <a14:foregroundMark x1="34434" y1="24451" x2="34434" y2="24451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435929" y="2078693"/>
              <a:ext cx="1079430" cy="926680"/>
            </a:xfrm>
            <a:prstGeom prst="rect">
              <a:avLst/>
            </a:prstGeom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5DC0AC91-16DC-286A-D8B4-0454C604EE26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137" b="94096" l="9654" r="89982">
                        <a14:foregroundMark x1="29872" y1="34871" x2="29872" y2="34871"/>
                        <a14:foregroundMark x1="26594" y1="28229" x2="24408" y2="45203"/>
                        <a14:foregroundMark x1="28233" y1="49262" x2="29872" y2="44465"/>
                        <a14:foregroundMark x1="20219" y1="23063" x2="20219" y2="23063"/>
                        <a14:foregroundMark x1="23862" y1="26568" x2="25501" y2="26568"/>
                        <a14:foregroundMark x1="24226" y1="25646" x2="26230" y2="25277"/>
                        <a14:foregroundMark x1="36066" y1="14945" x2="44444" y2="6642"/>
                        <a14:foregroundMark x1="46266" y1="6642" x2="49727" y2="3506"/>
                        <a14:foregroundMark x1="23497" y1="23616" x2="24226" y2="25461"/>
                        <a14:foregroundMark x1="29690" y1="41513" x2="30965" y2="47417"/>
                        <a14:foregroundMark x1="30965" y1="47417" x2="29872" y2="49077"/>
                        <a14:foregroundMark x1="29872" y1="49077" x2="30419" y2="50369"/>
                        <a14:foregroundMark x1="23679" y1="25830" x2="24772" y2="25830"/>
                        <a14:foregroundMark x1="50273" y1="4428" x2="56648" y2="3690"/>
                        <a14:foregroundMark x1="55191" y1="3321" x2="56102" y2="3506"/>
                        <a14:foregroundMark x1="54098" y1="44465" x2="54281" y2="57565"/>
                        <a14:foregroundMark x1="47723" y1="34317" x2="46630" y2="30812"/>
                        <a14:foregroundMark x1="42987" y1="34133" x2="42441" y2="31734"/>
                        <a14:foregroundMark x1="51184" y1="24723" x2="51184" y2="23985"/>
                        <a14:foregroundMark x1="55738" y1="23616" x2="55738" y2="23063"/>
                        <a14:foregroundMark x1="57195" y1="32472" x2="57195" y2="32472"/>
                        <a14:foregroundMark x1="52459" y1="33210" x2="52459" y2="33210"/>
                        <a14:foregroundMark x1="51548" y1="94096" x2="53370" y2="94096"/>
                        <a14:backgroundMark x1="30854" y1="41259" x2="31148" y2="3560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78033" y="4496135"/>
            <a:ext cx="2058008" cy="2031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63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803CA-53DD-5F78-FF38-396287AFA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5D1F5F9-7E3F-A0C6-91A2-B74176674C95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145532">
            <a:off x="4551405" y="3007811"/>
            <a:ext cx="1733593" cy="1733593"/>
          </a:xfrm>
          <a:prstGeom prst="rect">
            <a:avLst/>
          </a:prstGeom>
        </p:spPr>
      </p:pic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96AFFB2-C261-3956-D210-A7B15912319F}"/>
              </a:ext>
            </a:extLst>
          </p:cNvPr>
          <p:cNvSpPr/>
          <p:nvPr/>
        </p:nvSpPr>
        <p:spPr>
          <a:xfrm>
            <a:off x="1237109" y="1750448"/>
            <a:ext cx="4220884" cy="3655323"/>
          </a:xfrm>
          <a:prstGeom prst="roundRect">
            <a:avLst>
              <a:gd name="adj" fmla="val 6891"/>
            </a:avLst>
          </a:prstGeom>
          <a:solidFill>
            <a:schemeClr val="bg1"/>
          </a:solidFill>
          <a:ln>
            <a:noFill/>
          </a:ln>
          <a:effectLst>
            <a:outerShdw blurRad="152400" sx="103000" sy="103000" algn="ctr" rotWithShape="0">
              <a:srgbClr val="7030A0">
                <a:alpha val="13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FD6BD6-1FDD-D356-5E3C-E4FBF53FC5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8A75774-E8E1-C7E1-1951-4D733FF54CF8}"/>
              </a:ext>
            </a:extLst>
          </p:cNvPr>
          <p:cNvSpPr/>
          <p:nvPr/>
        </p:nvSpPr>
        <p:spPr>
          <a:xfrm>
            <a:off x="854541" y="594359"/>
            <a:ext cx="10259397" cy="5514975"/>
          </a:xfrm>
          <a:prstGeom prst="roundRect">
            <a:avLst>
              <a:gd name="adj" fmla="val 6891"/>
            </a:avLst>
          </a:prstGeom>
          <a:solidFill>
            <a:srgbClr val="FDFDFD"/>
          </a:solidFill>
          <a:ln>
            <a:noFill/>
          </a:ln>
          <a:effectLst>
            <a:outerShdw blurRad="152400" sx="103000" sy="103000" algn="ctr" rotWithShape="0">
              <a:srgbClr val="7030A0">
                <a:alpha val="13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C7ECC6-C81C-62C8-67F1-8C8111933560}"/>
              </a:ext>
            </a:extLst>
          </p:cNvPr>
          <p:cNvSpPr/>
          <p:nvPr/>
        </p:nvSpPr>
        <p:spPr>
          <a:xfrm>
            <a:off x="2187914" y="927723"/>
            <a:ext cx="7816173" cy="621367"/>
          </a:xfrm>
          <a:prstGeom prst="roundRect">
            <a:avLst>
              <a:gd name="adj" fmla="val 50000"/>
            </a:avLst>
          </a:prstGeom>
          <a:solidFill>
            <a:srgbClr val="FDFDFD"/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BA09FF60-EE65-A391-AB25-AA2A11EC974F}"/>
              </a:ext>
            </a:extLst>
          </p:cNvPr>
          <p:cNvSpPr/>
          <p:nvPr/>
        </p:nvSpPr>
        <p:spPr>
          <a:xfrm>
            <a:off x="1508864" y="1990991"/>
            <a:ext cx="3443972" cy="3611058"/>
          </a:xfrm>
          <a:prstGeom prst="roundRect">
            <a:avLst>
              <a:gd name="adj" fmla="val 5855"/>
            </a:avLst>
          </a:prstGeom>
          <a:solidFill>
            <a:srgbClr val="FDFDFD"/>
          </a:solidFill>
          <a:ln>
            <a:noFill/>
          </a:ln>
          <a:effectLst>
            <a:outerShdw blurRad="152400" sx="103000" sy="103000" algn="ctr" rotWithShape="0">
              <a:srgbClr val="7030A0">
                <a:alpha val="13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8B225EB-AF30-9EC2-3431-45B6D420DB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07" b="94579" l="9774" r="89850">
                        <a14:foregroundMark x1="27256" y1="91402" x2="50752" y2="91589"/>
                        <a14:foregroundMark x1="50752" y1="91589" x2="21053" y2="94579"/>
                        <a14:foregroundMark x1="22556" y1="81869" x2="22556" y2="81869"/>
                        <a14:foregroundMark x1="25188" y1="85047" x2="25188" y2="85047"/>
                        <a14:foregroundMark x1="31015" y1="84112" x2="31015" y2="84112"/>
                        <a14:foregroundMark x1="24624" y1="84299" x2="24624" y2="84299"/>
                        <a14:foregroundMark x1="28008" y1="85794" x2="28008" y2="85794"/>
                        <a14:foregroundMark x1="70489" y1="77944" x2="70489" y2="77944"/>
                        <a14:foregroundMark x1="67669" y1="84299" x2="67669" y2="84299"/>
                        <a14:foregroundMark x1="62406" y1="81869" x2="62406" y2="81869"/>
                        <a14:foregroundMark x1="89098" y1="91776" x2="89098" y2="91776"/>
                        <a14:foregroundMark x1="40226" y1="13271" x2="40226" y2="13271"/>
                        <a14:foregroundMark x1="40226" y1="13271" x2="40977" y2="14579"/>
                        <a14:foregroundMark x1="40977" y1="14579" x2="37782" y2="14393"/>
                        <a14:foregroundMark x1="33271" y1="58505" x2="33271" y2="58505"/>
                        <a14:foregroundMark x1="33271" y1="58505" x2="33083" y2="61308"/>
                        <a14:foregroundMark x1="33083" y1="28411" x2="33083" y2="31589"/>
                        <a14:foregroundMark x1="33647" y1="31963" x2="33647" y2="3196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83175" y="2240118"/>
            <a:ext cx="3095350" cy="3112805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73F9CB7E-A439-D875-ABFE-E0E815AEEF70}"/>
              </a:ext>
            </a:extLst>
          </p:cNvPr>
          <p:cNvGrpSpPr/>
          <p:nvPr/>
        </p:nvGrpSpPr>
        <p:grpSpPr>
          <a:xfrm>
            <a:off x="5200068" y="1598163"/>
            <a:ext cx="5666638" cy="4492747"/>
            <a:chOff x="5750560" y="0"/>
            <a:chExt cx="644144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C1BBCE3-F597-5308-0942-B8A911D23255}"/>
                </a:ext>
              </a:extLst>
            </p:cNvPr>
            <p:cNvSpPr/>
            <p:nvPr/>
          </p:nvSpPr>
          <p:spPr>
            <a:xfrm>
              <a:off x="6543040" y="2940627"/>
              <a:ext cx="4236720" cy="668584"/>
            </a:xfrm>
            <a:prstGeom prst="rect">
              <a:avLst/>
            </a:prstGeom>
            <a:solidFill>
              <a:srgbClr val="004AA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67E5F19-E1DA-1902-DE57-A2430FF122C0}"/>
                </a:ext>
              </a:extLst>
            </p:cNvPr>
            <p:cNvSpPr/>
            <p:nvPr/>
          </p:nvSpPr>
          <p:spPr>
            <a:xfrm>
              <a:off x="6541938" y="3807196"/>
              <a:ext cx="4236720" cy="66858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6781F7A-4B10-6099-DD32-853739F3062B}"/>
                </a:ext>
              </a:extLst>
            </p:cNvPr>
            <p:cNvGrpSpPr/>
            <p:nvPr/>
          </p:nvGrpSpPr>
          <p:grpSpPr>
            <a:xfrm>
              <a:off x="6543040" y="2011976"/>
              <a:ext cx="4368800" cy="730666"/>
              <a:chOff x="6543040" y="1986661"/>
              <a:chExt cx="4368800" cy="730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2F477AB-F902-EB16-35D1-6BA51119664D}"/>
                  </a:ext>
                </a:extLst>
              </p:cNvPr>
              <p:cNvSpPr/>
              <p:nvPr/>
            </p:nvSpPr>
            <p:spPr>
              <a:xfrm>
                <a:off x="6543040" y="1986661"/>
                <a:ext cx="4236720" cy="66858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C83A519-1835-3E52-582F-5BC4E2CD3730}"/>
                  </a:ext>
                </a:extLst>
              </p:cNvPr>
              <p:cNvSpPr txBox="1"/>
              <p:nvPr/>
            </p:nvSpPr>
            <p:spPr>
              <a:xfrm>
                <a:off x="6543040" y="2009441"/>
                <a:ext cx="43688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rgbClr val="002060"/>
                    </a:solidFill>
                    <a:latin typeface="Aptos" panose="020B0004020202020204" pitchFamily="34" charset="0"/>
                  </a:rPr>
                  <a:t>Personal Safety and Security of Women by Leveraging Technology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8BA2BE9-967A-4EC6-02E2-E534B49E5692}"/>
                </a:ext>
              </a:extLst>
            </p:cNvPr>
            <p:cNvGrpSpPr/>
            <p:nvPr/>
          </p:nvGrpSpPr>
          <p:grpSpPr>
            <a:xfrm>
              <a:off x="6541938" y="4673765"/>
              <a:ext cx="4403809" cy="707886"/>
              <a:chOff x="6543040" y="4891438"/>
              <a:chExt cx="4403809" cy="707886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CA88397-D5E3-7CFB-0686-7A71406AF52E}"/>
                  </a:ext>
                </a:extLst>
              </p:cNvPr>
              <p:cNvSpPr/>
              <p:nvPr/>
            </p:nvSpPr>
            <p:spPr>
              <a:xfrm>
                <a:off x="6543040" y="4891438"/>
                <a:ext cx="4236720" cy="668584"/>
              </a:xfrm>
              <a:prstGeom prst="rect">
                <a:avLst/>
              </a:prstGeom>
              <a:solidFill>
                <a:srgbClr val="004AAD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10ADFB9-50F7-4027-964F-D50210E2B121}"/>
                  </a:ext>
                </a:extLst>
              </p:cNvPr>
              <p:cNvSpPr txBox="1"/>
              <p:nvPr/>
            </p:nvSpPr>
            <p:spPr>
              <a:xfrm>
                <a:off x="6627748" y="4891438"/>
                <a:ext cx="431910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i="0" dirty="0">
                    <a:solidFill>
                      <a:schemeClr val="bg1"/>
                    </a:solidFill>
                    <a:effectLst/>
                    <a:latin typeface="Aptos" panose="020B0004020202020204" pitchFamily="34" charset="0"/>
                  </a:rPr>
                  <a:t>Breaking</a:t>
                </a:r>
                <a:r>
                  <a:rPr lang="en-US" sz="2000" b="0" i="0" dirty="0">
                    <a:solidFill>
                      <a:schemeClr val="bg1"/>
                    </a:solidFill>
                    <a:effectLst/>
                    <a:latin typeface="Aptos" panose="020B0004020202020204" pitchFamily="34" charset="0"/>
                  </a:rPr>
                  <a:t> Barriers by Empowering </a:t>
                </a:r>
              </a:p>
              <a:p>
                <a:r>
                  <a:rPr lang="en-US" sz="20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W</a:t>
                </a:r>
                <a:r>
                  <a:rPr lang="en-US" sz="2000" b="0" i="0" dirty="0">
                    <a:solidFill>
                      <a:schemeClr val="bg1"/>
                    </a:solidFill>
                    <a:effectLst/>
                    <a:latin typeface="Aptos" panose="020B0004020202020204" pitchFamily="34" charset="0"/>
                  </a:rPr>
                  <a:t>omen to </a:t>
                </a:r>
                <a:r>
                  <a:rPr lang="en-US" sz="20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N</a:t>
                </a:r>
                <a:r>
                  <a:rPr lang="en-US" sz="2000" b="0" i="0" dirty="0">
                    <a:solidFill>
                      <a:schemeClr val="bg1"/>
                    </a:solidFill>
                    <a:effectLst/>
                    <a:latin typeface="Aptos" panose="020B0004020202020204" pitchFamily="34" charset="0"/>
                  </a:rPr>
                  <a:t>avigate Public </a:t>
                </a:r>
                <a:r>
                  <a:rPr lang="en-US" sz="2000" dirty="0">
                    <a:solidFill>
                      <a:schemeClr val="bg1"/>
                    </a:solidFill>
                    <a:latin typeface="Aptos" panose="020B0004020202020204" pitchFamily="34" charset="0"/>
                  </a:rPr>
                  <a:t>S</a:t>
                </a:r>
                <a:r>
                  <a:rPr lang="en-US" sz="2000" b="0" i="0" dirty="0">
                    <a:solidFill>
                      <a:schemeClr val="bg1"/>
                    </a:solidFill>
                    <a:effectLst/>
                    <a:latin typeface="Aptos" panose="020B0004020202020204" pitchFamily="34" charset="0"/>
                  </a:rPr>
                  <a:t>paces</a:t>
                </a:r>
                <a:endParaRPr lang="en-US" sz="2000" dirty="0">
                  <a:solidFill>
                    <a:schemeClr val="bg1"/>
                  </a:solidFill>
                  <a:latin typeface="Aptos" panose="020B0004020202020204" pitchFamily="34" charset="0"/>
                </a:endParaRP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A21E843-578C-F3D4-99C7-15D537337029}"/>
                </a:ext>
              </a:extLst>
            </p:cNvPr>
            <p:cNvSpPr txBox="1"/>
            <p:nvPr/>
          </p:nvSpPr>
          <p:spPr>
            <a:xfrm>
              <a:off x="6543040" y="2963407"/>
              <a:ext cx="383032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Aptos" panose="020B0004020202020204" pitchFamily="34" charset="0"/>
                </a:rPr>
                <a:t>P</a:t>
              </a:r>
              <a:r>
                <a:rPr lang="en-US" sz="2000" b="0" i="0" dirty="0">
                  <a:solidFill>
                    <a:schemeClr val="bg1"/>
                  </a:solidFill>
                  <a:effectLst/>
                  <a:latin typeface="Aptos" panose="020B0004020202020204" pitchFamily="34" charset="0"/>
                </a:rPr>
                <a:t>roviding a Sense of Autonomy and Control </a:t>
              </a:r>
              <a:endParaRPr lang="en-IN" sz="2000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CEE882F-A8A4-4091-C770-E7B430BD0252}"/>
                </a:ext>
              </a:extLst>
            </p:cNvPr>
            <p:cNvSpPr txBox="1"/>
            <p:nvPr/>
          </p:nvSpPr>
          <p:spPr>
            <a:xfrm>
              <a:off x="6619241" y="3814182"/>
              <a:ext cx="367791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002060"/>
                  </a:solidFill>
                  <a:latin typeface="Aptos" panose="020B0004020202020204" pitchFamily="34" charset="0"/>
                </a:rPr>
                <a:t>Raising Awareness and Public Education</a:t>
              </a:r>
              <a:endParaRPr lang="en-IN" sz="2000" dirty="0">
                <a:solidFill>
                  <a:srgbClr val="002060"/>
                </a:solidFill>
                <a:latin typeface="Aptos" panose="020B0004020202020204" pitchFamily="34" charset="0"/>
              </a:endParaRP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B66582A4-3510-5942-5B65-682CAA29D5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167"/>
            <a:stretch/>
          </p:blipFill>
          <p:spPr>
            <a:xfrm>
              <a:off x="5750560" y="0"/>
              <a:ext cx="6441440" cy="6858000"/>
            </a:xfrm>
            <a:prstGeom prst="rect">
              <a:avLst/>
            </a:prstGeom>
          </p:spPr>
        </p:pic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3884E7B1-51CB-F1FA-CD03-7663DFCF32FC}"/>
                </a:ext>
              </a:extLst>
            </p:cNvPr>
            <p:cNvSpPr/>
            <p:nvPr/>
          </p:nvSpPr>
          <p:spPr>
            <a:xfrm>
              <a:off x="6753662" y="833120"/>
              <a:ext cx="4583797" cy="150587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136EA6E7-F7E2-AB37-5149-F3D824193AA0}"/>
                </a:ext>
              </a:extLst>
            </p:cNvPr>
            <p:cNvSpPr/>
            <p:nvPr/>
          </p:nvSpPr>
          <p:spPr>
            <a:xfrm>
              <a:off x="6770890" y="4519002"/>
              <a:ext cx="4583797" cy="150587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5967BFCC-D6B9-CAD4-6284-10D24101D3C5}"/>
                </a:ext>
              </a:extLst>
            </p:cNvPr>
            <p:cNvSpPr/>
            <p:nvPr/>
          </p:nvSpPr>
          <p:spPr>
            <a:xfrm>
              <a:off x="6733341" y="2702514"/>
              <a:ext cx="4583797" cy="150587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3FD3DC6F-FD6D-5CC0-7BBD-5167D28F85DF}"/>
              </a:ext>
            </a:extLst>
          </p:cNvPr>
          <p:cNvSpPr txBox="1"/>
          <p:nvPr/>
        </p:nvSpPr>
        <p:spPr>
          <a:xfrm>
            <a:off x="6201438" y="2421641"/>
            <a:ext cx="4032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0" dirty="0">
                <a:solidFill>
                  <a:srgbClr val="0D0D0D"/>
                </a:solidFill>
                <a:effectLst/>
                <a:latin typeface="Söhne"/>
              </a:rPr>
              <a:t>  Community Engagement Features</a:t>
            </a:r>
          </a:p>
          <a:p>
            <a:endParaRPr lang="en-IN" b="1" dirty="0">
              <a:solidFill>
                <a:srgbClr val="0D0D0D"/>
              </a:solidFill>
              <a:latin typeface="Söhne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FD00A2E-6FF1-EE36-81F3-F9C158C5FAEF}"/>
              </a:ext>
            </a:extLst>
          </p:cNvPr>
          <p:cNvSpPr txBox="1"/>
          <p:nvPr/>
        </p:nvSpPr>
        <p:spPr>
          <a:xfrm>
            <a:off x="6411364" y="3527519"/>
            <a:ext cx="37510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Artificial Intelligence for Personalized   Safety and chatbot</a:t>
            </a:r>
            <a:endParaRPr lang="en-IN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9B2CF40-F6C0-6C09-D7A0-7C8900EAF038}"/>
              </a:ext>
            </a:extLst>
          </p:cNvPr>
          <p:cNvSpPr/>
          <p:nvPr/>
        </p:nvSpPr>
        <p:spPr>
          <a:xfrm>
            <a:off x="6124755" y="2585676"/>
            <a:ext cx="161903" cy="16190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B82811E5-31AF-D936-4010-28450B81AD85}"/>
              </a:ext>
            </a:extLst>
          </p:cNvPr>
          <p:cNvSpPr/>
          <p:nvPr/>
        </p:nvSpPr>
        <p:spPr>
          <a:xfrm>
            <a:off x="6155860" y="3772725"/>
            <a:ext cx="161903" cy="16190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AB053E6-A65D-E129-37E4-506EEA5D8520}"/>
              </a:ext>
            </a:extLst>
          </p:cNvPr>
          <p:cNvSpPr/>
          <p:nvPr/>
        </p:nvSpPr>
        <p:spPr>
          <a:xfrm>
            <a:off x="6205707" y="4979545"/>
            <a:ext cx="161903" cy="16190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9D299E8-C270-ACA2-A936-D14B9939C2D3}"/>
              </a:ext>
            </a:extLst>
          </p:cNvPr>
          <p:cNvGrpSpPr/>
          <p:nvPr/>
        </p:nvGrpSpPr>
        <p:grpSpPr>
          <a:xfrm>
            <a:off x="4087553" y="927099"/>
            <a:ext cx="4016895" cy="572917"/>
            <a:chOff x="3692057" y="927099"/>
            <a:chExt cx="4016895" cy="57291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D89F479-C2AC-A822-7EFA-57D62A02AF79}"/>
                </a:ext>
              </a:extLst>
            </p:cNvPr>
            <p:cNvSpPr txBox="1"/>
            <p:nvPr/>
          </p:nvSpPr>
          <p:spPr>
            <a:xfrm>
              <a:off x="4617112" y="976796"/>
              <a:ext cx="309184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 Variable Display" pitchFamily="2" charset="0"/>
                  <a:cs typeface="Segoe UI Semibold" panose="020B0702040204020203" pitchFamily="34" charset="0"/>
                </a:rPr>
                <a:t>Future Prospects </a:t>
              </a:r>
              <a:endParaRPr lang="en-IN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Variable Display" pitchFamily="2" charset="0"/>
                <a:cs typeface="Segoe UI Semibold" panose="020B0702040204020203" pitchFamily="34" charset="0"/>
              </a:endParaRP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E4D7B7FC-2ECE-B9D7-57B3-F4717165022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0000" l="10000" r="90000">
                          <a14:foregroundMark x1="17195" y1="73200" x2="17195" y2="73200"/>
                          <a14:foregroundMark x1="35520" y1="64800" x2="35520" y2="64800"/>
                          <a14:foregroundMark x1="61086" y1="52400" x2="61086" y2="52400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626095">
              <a:off x="3692057" y="960485"/>
              <a:ext cx="925055" cy="523221"/>
            </a:xfrm>
            <a:prstGeom prst="rect">
              <a:avLst/>
            </a:prstGeom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5F943F22-DD2E-5739-F315-AE6731C81C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10000" b="90000" l="10000" r="90000">
                          <a14:foregroundMark x1="27004" y1="39114" x2="28692" y2="39483"/>
                          <a14:foregroundMark x1="25949" y1="53506" x2="25949" y2="53506"/>
                          <a14:foregroundMark x1="20253" y1="58303" x2="23418" y2="56827"/>
                          <a14:foregroundMark x1="25105" y1="54982" x2="26371" y2="53875"/>
                          <a14:foregroundMark x1="27426" y1="54244" x2="27426" y2="54244"/>
                          <a14:foregroundMark x1="28481" y1="71956" x2="30380" y2="67897"/>
                          <a14:foregroundMark x1="25527" y1="54244" x2="26582" y2="53875"/>
                          <a14:foregroundMark x1="27004" y1="54244" x2="28692" y2="52030"/>
                          <a14:foregroundMark x1="26160" y1="52030" x2="23840" y2="54613"/>
                          <a14:foregroundMark x1="36920" y1="81181" x2="37553" y2="76384"/>
                          <a14:foregroundMark x1="47468" y1="84502" x2="47468" y2="78967"/>
                          <a14:foregroundMark x1="57384" y1="80443" x2="55696" y2="72325"/>
                          <a14:foregroundMark x1="61392" y1="63469" x2="60759" y2="62362"/>
                          <a14:foregroundMark x1="69198" y1="54982" x2="66667" y2="54244"/>
                          <a14:foregroundMark x1="20675" y1="39114" x2="30380" y2="38745"/>
                          <a14:foregroundMark x1="29325" y1="51292" x2="24262" y2="5350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4936451">
              <a:off x="4142982" y="1043362"/>
              <a:ext cx="542944" cy="310418"/>
            </a:xfrm>
            <a:prstGeom prst="rect">
              <a:avLst/>
            </a:prstGeom>
          </p:spPr>
        </p:pic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9BA9F19A-752A-9630-66B3-92F14583792E}"/>
              </a:ext>
            </a:extLst>
          </p:cNvPr>
          <p:cNvSpPr txBox="1"/>
          <p:nvPr/>
        </p:nvSpPr>
        <p:spPr>
          <a:xfrm>
            <a:off x="6667693" y="4741337"/>
            <a:ext cx="37995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Offline Mode with Emergency Features</a:t>
            </a:r>
            <a:endParaRPr lang="en-IN" dirty="0"/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3B3489-99DB-B003-7972-14DCEAB7E47A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8466" y="6544217"/>
            <a:ext cx="1417589" cy="141758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9B4BB8A-CFB9-5CA1-710D-533FB8888928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0" y="5203002"/>
            <a:ext cx="1417589" cy="1417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609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0687E5-B8EF-602E-EBDB-541F3FC0E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AB0EE86-C0A4-E644-4E64-B3A7F2AFF2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8B58C7-CDE5-B6A1-DA09-B4B7E4EC47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400" b="90000" l="4600" r="90000">
                        <a14:foregroundMark x1="37600" y1="11600" x2="22200" y2="30600"/>
                        <a14:foregroundMark x1="22200" y1="30600" x2="25200" y2="53600"/>
                        <a14:foregroundMark x1="25200" y1="53600" x2="46400" y2="77800"/>
                        <a14:foregroundMark x1="46400" y1="77800" x2="68200" y2="64000"/>
                        <a14:foregroundMark x1="68200" y1="64000" x2="39000" y2="14000"/>
                        <a14:foregroundMark x1="39000" y1="14000" x2="38600" y2="13600"/>
                        <a14:foregroundMark x1="56200" y1="56200" x2="45800" y2="49600"/>
                        <a14:foregroundMark x1="45800" y1="49600" x2="52200" y2="34000"/>
                        <a14:foregroundMark x1="52200" y1="34000" x2="43000" y2="37600"/>
                        <a14:foregroundMark x1="43000" y1="37600" x2="71000" y2="47200"/>
                        <a14:foregroundMark x1="56800" y1="30200" x2="35400" y2="37000"/>
                        <a14:foregroundMark x1="35400" y1="37000" x2="55800" y2="50800"/>
                        <a14:foregroundMark x1="55600" y1="53600" x2="24200" y2="56200"/>
                        <a14:foregroundMark x1="24200" y1="56200" x2="12400" y2="54200"/>
                        <a14:foregroundMark x1="12400" y1="54200" x2="26800" y2="57200"/>
                        <a14:foregroundMark x1="26800" y1="57200" x2="70200" y2="52400"/>
                        <a14:foregroundMark x1="70200" y1="52400" x2="80400" y2="58000"/>
                        <a14:foregroundMark x1="80400" y1="58000" x2="81400" y2="58000"/>
                        <a14:foregroundMark x1="81400" y1="58000" x2="81400" y2="59000"/>
                        <a14:foregroundMark x1="81400" y1="59000" x2="81400" y2="59000"/>
                        <a14:foregroundMark x1="81400" y1="59000" x2="79600" y2="52600"/>
                        <a14:foregroundMark x1="79600" y1="52600" x2="71000" y2="54800"/>
                        <a14:foregroundMark x1="71000" y1="54800" x2="29000" y2="57200"/>
                        <a14:foregroundMark x1="29000" y1="57200" x2="11800" y2="54200"/>
                        <a14:foregroundMark x1="11400" y1="38200" x2="9200" y2="51000"/>
                        <a14:foregroundMark x1="7000" y1="49200" x2="4600" y2="47200"/>
                        <a14:foregroundMark x1="10800" y1="54200" x2="14200" y2="57200"/>
                        <a14:foregroundMark x1="14200" y1="57200" x2="7200" y2="48200"/>
                        <a14:foregroundMark x1="7200" y1="48200" x2="7200" y2="48200"/>
                        <a14:foregroundMark x1="7200" y1="48200" x2="15200" y2="59400"/>
                        <a14:foregroundMark x1="15200" y1="59400" x2="8200" y2="57200"/>
                        <a14:foregroundMark x1="12600" y1="56800" x2="23200" y2="56800"/>
                        <a14:foregroundMark x1="23200" y1="56800" x2="22600" y2="62800"/>
                        <a14:foregroundMark x1="25400" y1="58000" x2="28400" y2="54000"/>
                        <a14:foregroundMark x1="28400" y1="54000" x2="39400" y2="59600"/>
                        <a14:foregroundMark x1="39400" y1="59600" x2="39600" y2="59600"/>
                        <a14:foregroundMark x1="39600" y1="59600" x2="55600" y2="59400"/>
                        <a14:foregroundMark x1="55600" y1="59400" x2="65400" y2="58400"/>
                        <a14:foregroundMark x1="65400" y1="58400" x2="73800" y2="57200"/>
                        <a14:foregroundMark x1="73800" y1="57200" x2="82400" y2="50600"/>
                        <a14:foregroundMark x1="82400" y1="50600" x2="82400" y2="49800"/>
                        <a14:foregroundMark x1="82400" y1="49800" x2="72800" y2="63600"/>
                        <a14:foregroundMark x1="72800" y1="63600" x2="72600" y2="59400"/>
                        <a14:foregroundMark x1="58200" y1="23800" x2="54600" y2="30800"/>
                        <a14:foregroundMark x1="43400" y1="9800" x2="49400" y2="10000"/>
                        <a14:foregroundMark x1="41200" y1="8400" x2="41200" y2="84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0549" y="72939"/>
            <a:ext cx="1213855" cy="1213855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A79DA59E-0D9D-9014-CAD8-66511676A1EE}"/>
              </a:ext>
            </a:extLst>
          </p:cNvPr>
          <p:cNvGrpSpPr/>
          <p:nvPr/>
        </p:nvGrpSpPr>
        <p:grpSpPr>
          <a:xfrm>
            <a:off x="261431" y="173853"/>
            <a:ext cx="698767" cy="161903"/>
            <a:chOff x="734136" y="960124"/>
            <a:chExt cx="698767" cy="161903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885ECB1D-4E69-7CA2-ABC3-782D3C78D6A7}"/>
                </a:ext>
              </a:extLst>
            </p:cNvPr>
            <p:cNvSpPr/>
            <p:nvPr/>
          </p:nvSpPr>
          <p:spPr>
            <a:xfrm>
              <a:off x="734136" y="960124"/>
              <a:ext cx="161903" cy="161903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B246EB62-7C78-7813-21AB-49085EB3C6C5}"/>
                </a:ext>
              </a:extLst>
            </p:cNvPr>
            <p:cNvSpPr/>
            <p:nvPr/>
          </p:nvSpPr>
          <p:spPr>
            <a:xfrm>
              <a:off x="1000847" y="960124"/>
              <a:ext cx="161903" cy="161903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29F6077F-BF20-06E6-B516-F820568E92BD}"/>
                </a:ext>
              </a:extLst>
            </p:cNvPr>
            <p:cNvSpPr/>
            <p:nvPr/>
          </p:nvSpPr>
          <p:spPr>
            <a:xfrm>
              <a:off x="1271000" y="960124"/>
              <a:ext cx="161903" cy="16190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2556EE5-106F-7FF0-A575-2310BE90163A}"/>
              </a:ext>
            </a:extLst>
          </p:cNvPr>
          <p:cNvSpPr/>
          <p:nvPr/>
        </p:nvSpPr>
        <p:spPr>
          <a:xfrm>
            <a:off x="609094" y="679866"/>
            <a:ext cx="10492273" cy="5688905"/>
          </a:xfrm>
          <a:prstGeom prst="roundRect">
            <a:avLst>
              <a:gd name="adj" fmla="val 6891"/>
            </a:avLst>
          </a:prstGeom>
          <a:solidFill>
            <a:srgbClr val="FDFDFD"/>
          </a:solidFill>
          <a:ln>
            <a:noFill/>
          </a:ln>
          <a:effectLst>
            <a:outerShdw blurRad="152400" sx="103000" sy="103000" algn="ctr" rotWithShape="0">
              <a:srgbClr val="7030A0">
                <a:alpha val="13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25CC9B1-CB61-1E40-F782-CB50578814A5}"/>
              </a:ext>
            </a:extLst>
          </p:cNvPr>
          <p:cNvSpPr/>
          <p:nvPr/>
        </p:nvSpPr>
        <p:spPr>
          <a:xfrm>
            <a:off x="1591417" y="1015390"/>
            <a:ext cx="7993590" cy="640964"/>
          </a:xfrm>
          <a:prstGeom prst="roundRect">
            <a:avLst>
              <a:gd name="adj" fmla="val 50000"/>
            </a:avLst>
          </a:prstGeom>
          <a:solidFill>
            <a:srgbClr val="FDFDFD"/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A39E24-6067-C937-0F84-5BC006F89379}"/>
              </a:ext>
            </a:extLst>
          </p:cNvPr>
          <p:cNvSpPr txBox="1"/>
          <p:nvPr/>
        </p:nvSpPr>
        <p:spPr>
          <a:xfrm>
            <a:off x="4599648" y="1066011"/>
            <a:ext cx="1977127" cy="539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Variable Display" pitchFamily="2" charset="0"/>
                <a:cs typeface="Segoe UI Semibold" panose="020B0702040204020203" pitchFamily="34" charset="0"/>
              </a:rPr>
              <a:t>References</a:t>
            </a:r>
            <a:endParaRPr lang="en-IN" sz="2800" dirty="0">
              <a:solidFill>
                <a:schemeClr val="tx1">
                  <a:lumMod val="75000"/>
                  <a:lumOff val="25000"/>
                </a:schemeClr>
              </a:solidFill>
              <a:latin typeface="Segoe UI Variable Display" pitchFamily="2" charset="0"/>
              <a:cs typeface="Segoe UI Semibold" panose="020B0702040204020203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D282319-5269-DC47-3E3E-E2935406DD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7399" b="89976" l="9804" r="89978">
                        <a14:foregroundMark x1="10022" y1="54415" x2="10022" y2="54415"/>
                        <a14:foregroundMark x1="30065" y1="7399" x2="30065" y2="7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90627" y="1801609"/>
            <a:ext cx="538468" cy="49154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14E0F6D-4869-7E77-6E5E-5D3527A5BE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7399" b="89976" l="9804" r="89978">
                        <a14:foregroundMark x1="10022" y1="54415" x2="10022" y2="54415"/>
                        <a14:foregroundMark x1="30065" y1="7399" x2="30065" y2="7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90627" y="2783902"/>
            <a:ext cx="538468" cy="49154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769FCFE-63CE-F9F8-EA81-7817133F20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7399" b="89976" l="9804" r="89978">
                        <a14:foregroundMark x1="10022" y1="54415" x2="10022" y2="54415"/>
                        <a14:foregroundMark x1="30065" y1="7399" x2="30065" y2="7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82818" y="3766195"/>
            <a:ext cx="538468" cy="49154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8296BD3-DF51-2A2A-983C-2FAB4E66BB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7399" b="89976" l="9804" r="89978">
                        <a14:foregroundMark x1="10022" y1="54415" x2="10022" y2="54415"/>
                        <a14:foregroundMark x1="30065" y1="7399" x2="30065" y2="7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87906" y="5133709"/>
            <a:ext cx="538468" cy="491543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8D869776-07AD-E079-9409-21DCEF3D0835}"/>
              </a:ext>
            </a:extLst>
          </p:cNvPr>
          <p:cNvSpPr/>
          <p:nvPr/>
        </p:nvSpPr>
        <p:spPr>
          <a:xfrm>
            <a:off x="4341265" y="1286794"/>
            <a:ext cx="161903" cy="161903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4308B42-133D-D6C1-9DD8-E75203D6A96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34" y="1160597"/>
            <a:ext cx="441763" cy="44176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220CE7-D82A-383B-C07D-DEB08DE57674}"/>
              </a:ext>
            </a:extLst>
          </p:cNvPr>
          <p:cNvSpPr txBox="1"/>
          <p:nvPr/>
        </p:nvSpPr>
        <p:spPr>
          <a:xfrm>
            <a:off x="1881499" y="1698120"/>
            <a:ext cx="8621187" cy="4442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IN" sz="1400" kern="10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egoe UI Variable Displ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AbhiRaksha: Advanced Women Safety App. Behance. </a:t>
            </a:r>
            <a:r>
              <a:rPr lang="en-IN" sz="1400" kern="100" dirty="0">
                <a:effectLst/>
                <a:latin typeface="Segoe UI Variable Displ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AbhiRaksha: Advanced Women Safety App. Behance. </a:t>
            </a:r>
            <a:r>
              <a:rPr lang="en-IN" sz="1400" u="sng" kern="100" dirty="0">
                <a:solidFill>
                  <a:srgbClr val="0D0D0D"/>
                </a:solidFill>
                <a:effectLst/>
                <a:latin typeface="Segoe UI Variable Display" pitchFamily="2" charset="0"/>
                <a:ea typeface="Calibri" panose="020F0502020204030204" pitchFamily="34" charset="0"/>
                <a:cs typeface="Times New Roman" panose="02020603050405020304" pitchFamily="18" charset="0"/>
                <a:hlinkClick r:id="rId8"/>
              </a:rPr>
              <a:t>https://www.behance.net/gallery/93648247/AbhiRaksha-Advanced-Women-Safety-App</a:t>
            </a:r>
            <a:endParaRPr lang="en-IN" sz="1400" kern="100" dirty="0">
              <a:effectLst/>
              <a:latin typeface="Segoe UI Variable Displ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50000"/>
              </a:lnSpc>
            </a:pPr>
            <a:r>
              <a:rPr lang="en-IN" sz="1400" kern="100" dirty="0">
                <a:solidFill>
                  <a:srgbClr val="0D0D0D"/>
                </a:solidFill>
                <a:effectLst/>
                <a:latin typeface="Segoe UI Variable Displ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400" kern="100" dirty="0">
              <a:effectLst/>
              <a:latin typeface="Segoe UI Variable Displ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IN" sz="1400" kern="100" dirty="0">
                <a:solidFill>
                  <a:srgbClr val="0D0D0D"/>
                </a:solidFill>
                <a:effectLst/>
                <a:latin typeface="Segoe UI Variable Displ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Crime Against Women in India: A Look at NCRB Report 2023. NewsClick. </a:t>
            </a:r>
            <a:r>
              <a:rPr lang="en-IN" sz="1400" u="sng" kern="100" dirty="0">
                <a:solidFill>
                  <a:srgbClr val="0D0D0D"/>
                </a:solidFill>
                <a:effectLst/>
                <a:latin typeface="Segoe UI Variable Display" pitchFamily="2" charset="0"/>
                <a:ea typeface="Calibri" panose="020F0502020204030204" pitchFamily="34" charset="0"/>
                <a:cs typeface="Times New Roman" panose="02020603050405020304" pitchFamily="18" charset="0"/>
                <a:hlinkClick r:id="rId9"/>
              </a:rPr>
              <a:t>https://www.newsclick.in/crime-against-women-india-4-ncrb-report-2023</a:t>
            </a:r>
            <a:endParaRPr lang="en-IN" sz="1400" kern="100" dirty="0">
              <a:effectLst/>
              <a:latin typeface="Segoe UI Variable Displ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50000"/>
              </a:lnSpc>
            </a:pPr>
            <a:r>
              <a:rPr lang="en-IN" sz="1400" u="none" strike="noStrike" kern="100" dirty="0">
                <a:solidFill>
                  <a:srgbClr val="0D0D0D"/>
                </a:solidFill>
                <a:effectLst/>
                <a:latin typeface="Segoe UI Variable Displ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400" kern="100" dirty="0">
              <a:effectLst/>
              <a:latin typeface="Segoe UI Variable Displ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800"/>
              </a:spcAft>
            </a:pPr>
            <a:r>
              <a:rPr lang="en-IN" sz="1400" kern="10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Segoe UI Variable Displ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Srinivas, K., Gothane, S., Krithika, C. S., Anshika, &amp; Susmitha, T. (2024). Android App for Women Safety. International Journal of Scientific Research in Computer Science, Engineering and Information Technology, 24(5), 378. </a:t>
            </a:r>
            <a:r>
              <a:rPr lang="en-IN" sz="1400" u="sng" kern="10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Segoe UI Variable Display" pitchFamily="2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https://doi.org/10.32628/CSEIT1217368</a:t>
            </a:r>
            <a:endParaRPr lang="en-IN" sz="1400" u="sng" kern="100" dirty="0">
              <a:solidFill>
                <a:srgbClr val="0000FF"/>
              </a:solidFill>
              <a:effectLst/>
              <a:highlight>
                <a:srgbClr val="FFFFFF"/>
              </a:highlight>
              <a:latin typeface="Segoe UI Variable Displ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800"/>
              </a:spcAft>
            </a:pPr>
            <a:endParaRPr lang="en-IN" sz="1400" u="sng" kern="100" dirty="0">
              <a:highlight>
                <a:srgbClr val="FFFFFF"/>
              </a:highlight>
              <a:latin typeface="Segoe UI Variable Displ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spcAft>
                <a:spcPts val="800"/>
              </a:spcAft>
            </a:pPr>
            <a:r>
              <a:rPr lang="en-IN" sz="1400" kern="100" dirty="0">
                <a:solidFill>
                  <a:srgbClr val="0D0D0D"/>
                </a:solidFill>
                <a:effectLst/>
                <a:latin typeface="Segoe UI Variable Displ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Wikipedia (Violence against Women in India): </a:t>
            </a:r>
          </a:p>
          <a:p>
            <a:pPr lvl="0" algn="just">
              <a:spcAft>
                <a:spcPts val="800"/>
              </a:spcAft>
            </a:pPr>
            <a:r>
              <a:rPr lang="en-IN" sz="1400" u="sng" kern="100" dirty="0">
                <a:solidFill>
                  <a:srgbClr val="0D0D0D"/>
                </a:solidFill>
                <a:effectLst/>
                <a:latin typeface="Segoe UI Variable Display" pitchFamily="2" charset="0"/>
                <a:ea typeface="Calibri" panose="020F0502020204030204" pitchFamily="34" charset="0"/>
                <a:cs typeface="Times New Roman" panose="02020603050405020304" pitchFamily="18" charset="0"/>
                <a:hlinkClick r:id="rId11"/>
              </a:rPr>
              <a:t>https://en.wikipedia.org/wiki/Violence_against_women_in_India</a:t>
            </a:r>
            <a:endParaRPr lang="en-IN" sz="1400" kern="100" dirty="0">
              <a:effectLst/>
              <a:latin typeface="Segoe UI Variable Displ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3267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F5441F-C29E-E5C9-10AE-73961FC94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E57AC6-C92C-28BD-CE0B-0EAD16051B73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3000">
                <a:srgbClr val="0956BD"/>
              </a:gs>
              <a:gs pos="100000">
                <a:srgbClr val="218BFF">
                  <a:alpha val="59000"/>
                </a:srgb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8160B-43DF-B8AE-29E0-C58A231D44BC}"/>
              </a:ext>
            </a:extLst>
          </p:cNvPr>
          <p:cNvSpPr txBox="1"/>
          <p:nvPr/>
        </p:nvSpPr>
        <p:spPr>
          <a:xfrm>
            <a:off x="4000983" y="509285"/>
            <a:ext cx="6678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ptos" panose="020B0004020202020204" pitchFamily="34" charset="0"/>
              </a:rPr>
              <a:t>CONCLUSION</a:t>
            </a:r>
            <a:endParaRPr lang="en-IN" sz="36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8CA4E6C-0781-40E7-B578-F4E04961D36A}"/>
              </a:ext>
            </a:extLst>
          </p:cNvPr>
          <p:cNvGrpSpPr/>
          <p:nvPr/>
        </p:nvGrpSpPr>
        <p:grpSpPr>
          <a:xfrm>
            <a:off x="261431" y="173853"/>
            <a:ext cx="698767" cy="161903"/>
            <a:chOff x="734136" y="960124"/>
            <a:chExt cx="698767" cy="161903"/>
          </a:xfrm>
          <a:solidFill>
            <a:srgbClr val="D0CECE"/>
          </a:solidFill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BFD122B-A0A5-76D9-FC60-2C94A67EFFB3}"/>
                </a:ext>
              </a:extLst>
            </p:cNvPr>
            <p:cNvSpPr/>
            <p:nvPr/>
          </p:nvSpPr>
          <p:spPr>
            <a:xfrm>
              <a:off x="734136" y="960124"/>
              <a:ext cx="161903" cy="161903"/>
            </a:xfrm>
            <a:prstGeom prst="ellipse">
              <a:avLst/>
            </a:prstGeom>
            <a:solidFill>
              <a:srgbClr val="FFCB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45853E5-F5A6-6A46-2FC7-C85BE36772A7}"/>
                </a:ext>
              </a:extLst>
            </p:cNvPr>
            <p:cNvSpPr/>
            <p:nvPr/>
          </p:nvSpPr>
          <p:spPr>
            <a:xfrm>
              <a:off x="1000847" y="960124"/>
              <a:ext cx="161903" cy="161903"/>
            </a:xfrm>
            <a:prstGeom prst="ellipse">
              <a:avLst/>
            </a:prstGeom>
            <a:solidFill>
              <a:srgbClr val="4FD0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7E6C5BC-1D03-5550-86E1-F01891424AC1}"/>
                </a:ext>
              </a:extLst>
            </p:cNvPr>
            <p:cNvSpPr/>
            <p:nvPr/>
          </p:nvSpPr>
          <p:spPr>
            <a:xfrm>
              <a:off x="1271000" y="960124"/>
              <a:ext cx="161903" cy="16190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AD894C4E-23B4-992C-D2AE-4FA8D9673B7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137" b="94096" l="9654" r="89982">
                        <a14:foregroundMark x1="29872" y1="34871" x2="29872" y2="34871"/>
                        <a14:foregroundMark x1="26594" y1="28229" x2="24408" y2="45203"/>
                        <a14:foregroundMark x1="28233" y1="49262" x2="29872" y2="44465"/>
                        <a14:foregroundMark x1="20219" y1="23063" x2="20219" y2="23063"/>
                        <a14:foregroundMark x1="23862" y1="26568" x2="25501" y2="26568"/>
                        <a14:foregroundMark x1="24226" y1="25646" x2="26230" y2="25277"/>
                        <a14:foregroundMark x1="36066" y1="14945" x2="44444" y2="6642"/>
                        <a14:foregroundMark x1="46266" y1="6642" x2="49727" y2="3506"/>
                        <a14:foregroundMark x1="23497" y1="23616" x2="24226" y2="25461"/>
                        <a14:foregroundMark x1="29690" y1="41513" x2="30965" y2="47417"/>
                        <a14:foregroundMark x1="30965" y1="47417" x2="29872" y2="49077"/>
                        <a14:foregroundMark x1="29872" y1="49077" x2="30419" y2="50369"/>
                        <a14:foregroundMark x1="23679" y1="25830" x2="24772" y2="25830"/>
                        <a14:foregroundMark x1="50273" y1="4428" x2="56648" y2="3690"/>
                        <a14:foregroundMark x1="55191" y1="3321" x2="56102" y2="3506"/>
                        <a14:foregroundMark x1="54098" y1="44465" x2="54281" y2="57565"/>
                        <a14:foregroundMark x1="47723" y1="34317" x2="46630" y2="30812"/>
                        <a14:foregroundMark x1="42987" y1="34133" x2="42441" y2="31734"/>
                        <a14:foregroundMark x1="51184" y1="24723" x2="51184" y2="23985"/>
                        <a14:foregroundMark x1="55738" y1="23616" x2="55738" y2="23063"/>
                        <a14:foregroundMark x1="57195" y1="32472" x2="57195" y2="32472"/>
                        <a14:foregroundMark x1="52459" y1="33210" x2="52459" y2="33210"/>
                        <a14:foregroundMark x1="51548" y1="94096" x2="53370" y2="94096"/>
                        <a14:backgroundMark x1="30854" y1="41259" x2="31148" y2="3560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10742" y="179322"/>
            <a:ext cx="1542949" cy="1523275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68AF009-AB30-F7E9-3A86-EA6D54079F3E}"/>
              </a:ext>
            </a:extLst>
          </p:cNvPr>
          <p:cNvCxnSpPr>
            <a:cxnSpLocks/>
          </p:cNvCxnSpPr>
          <p:nvPr/>
        </p:nvCxnSpPr>
        <p:spPr>
          <a:xfrm>
            <a:off x="3738623" y="1331088"/>
            <a:ext cx="376048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82F377CE-EB17-2A97-939C-7179E946C742}"/>
              </a:ext>
            </a:extLst>
          </p:cNvPr>
          <p:cNvSpPr/>
          <p:nvPr/>
        </p:nvSpPr>
        <p:spPr>
          <a:xfrm>
            <a:off x="608137" y="1912794"/>
            <a:ext cx="8454583" cy="4800608"/>
          </a:xfrm>
          <a:prstGeom prst="roundRect">
            <a:avLst>
              <a:gd name="adj" fmla="val 9607"/>
            </a:avLst>
          </a:prstGeom>
          <a:solidFill>
            <a:srgbClr val="FDFDFD"/>
          </a:solidFill>
          <a:ln>
            <a:noFill/>
          </a:ln>
          <a:effectLst>
            <a:glow rad="228600">
              <a:srgbClr val="5A0EE2">
                <a:alpha val="15000"/>
              </a:srgbClr>
            </a:glow>
            <a:outerShdw blurRad="152400" sx="103000" sy="103000" algn="ctr" rotWithShape="0">
              <a:srgbClr val="7030A0">
                <a:alpha val="13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286A7E0-34AF-DF55-DE32-83C4C6BF4642}"/>
              </a:ext>
            </a:extLst>
          </p:cNvPr>
          <p:cNvSpPr txBox="1"/>
          <p:nvPr/>
        </p:nvSpPr>
        <p:spPr>
          <a:xfrm>
            <a:off x="1036025" y="2161415"/>
            <a:ext cx="751766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In conclusion, DefendHER stands as a powerful tool in championing women's safety, offering a comprehensive suite of features designed to empower and protect. By seamlessly integrating real-time tracking, emergency alerts, and community support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DefendHER is more than an app; it's a guardian, providing a sense of security in every pocket. As we navigate the digital landscape of safety, DefendHER remains committed to its mission of ensuring the well-being and confidence of every user.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DefendHER—a steadfast companion in your journey toward a safer, more secure future. Let’s continue illuminating our way forward.</a:t>
            </a:r>
            <a:endParaRPr lang="en-IN" sz="2000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endParaRPr lang="en-IN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0561F27E-2CC6-47C6-C42F-8AA8573AC6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9151" y="347631"/>
            <a:ext cx="2318438" cy="15826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06977B-2D8C-67D3-DE91-11090D758D2C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  <a:alphaModFix amt="5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hotocopy/>
                    </a14:imgEffect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203422">
            <a:off x="10526168" y="4807501"/>
            <a:ext cx="3331662" cy="33316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BAB59B-6804-90B8-C8CD-EB7D26566CB8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  <a:alphaModFix amt="5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hotocopy/>
                    </a14:imgEffect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203422">
            <a:off x="9673947" y="5661663"/>
            <a:ext cx="916582" cy="9165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A71950-A92C-C01D-9591-37243E605788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  <a:alphaModFix amt="5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hotocopy/>
                    </a14:imgEffect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203422">
            <a:off x="11299132" y="4124710"/>
            <a:ext cx="569461" cy="569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484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EFA20-A344-17F7-4F59-2BDEFA588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E969732-79B6-8499-3FB9-3A67290A2B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B2DB0B-5ACF-3704-04DF-37177F054B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489" b="95197" l="2323" r="94839">
                        <a14:foregroundMark x1="10581" y1="36535" x2="7742" y2="41166"/>
                        <a14:foregroundMark x1="7742" y1="41166" x2="2323" y2="43225"/>
                        <a14:foregroundMark x1="44645" y1="14065" x2="44000" y2="8062"/>
                        <a14:foregroundMark x1="44000" y1="8062" x2="43613" y2="5489"/>
                        <a14:foregroundMark x1="85032" y1="78731" x2="84645" y2="76329"/>
                        <a14:foregroundMark x1="94839" y1="84563" x2="93935" y2="78216"/>
                        <a14:foregroundMark x1="93290" y1="90051" x2="93290" y2="9519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7159" y="1919299"/>
            <a:ext cx="5878286" cy="44219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7BC0FB8-EAD9-ADE0-4DA7-6140DB813691}"/>
              </a:ext>
            </a:extLst>
          </p:cNvPr>
          <p:cNvSpPr txBox="1"/>
          <p:nvPr/>
        </p:nvSpPr>
        <p:spPr>
          <a:xfrm>
            <a:off x="325974" y="756256"/>
            <a:ext cx="75531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0" i="0" dirty="0">
                <a:solidFill>
                  <a:srgbClr val="464749"/>
                </a:solidFill>
                <a:effectLst/>
                <a:latin typeface="Acme" panose="02000706050000020004" pitchFamily="2" charset="0"/>
              </a:rPr>
              <a:t>"Empowered women, </a:t>
            </a:r>
            <a:r>
              <a:rPr lang="en-IN" sz="3600" dirty="0">
                <a:solidFill>
                  <a:srgbClr val="464749"/>
                </a:solidFill>
                <a:latin typeface="Acme" panose="02000706050000020004" pitchFamily="2" charset="0"/>
              </a:rPr>
              <a:t>E</a:t>
            </a:r>
            <a:r>
              <a:rPr lang="en-IN" sz="3600" b="0" i="0" dirty="0">
                <a:solidFill>
                  <a:srgbClr val="464749"/>
                </a:solidFill>
                <a:effectLst/>
                <a:latin typeface="Acme" panose="02000706050000020004" pitchFamily="2" charset="0"/>
              </a:rPr>
              <a:t>mpower women."</a:t>
            </a:r>
            <a:endParaRPr lang="en-IN" sz="3600" dirty="0">
              <a:solidFill>
                <a:srgbClr val="464749"/>
              </a:solidFill>
              <a:latin typeface="Acme" panose="02000706050000020004" pitchFamily="2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4CC1C68-80F2-FEB8-E8F3-A31C6FDF718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201" b="93792" l="9827" r="89774">
                        <a14:foregroundMark x1="13944" y1="20973" x2="13944" y2="20973"/>
                        <a14:foregroundMark x1="24967" y1="28020" x2="24967" y2="28020"/>
                        <a14:foregroundMark x1="30943" y1="63926" x2="30943" y2="63926"/>
                        <a14:foregroundMark x1="17264" y1="76846" x2="17264" y2="76846"/>
                        <a14:foregroundMark x1="24967" y1="93792" x2="24967" y2="93792"/>
                        <a14:foregroundMark x1="24967" y1="93792" x2="24967" y2="93792"/>
                        <a14:foregroundMark x1="24967" y1="93792" x2="24967" y2="93792"/>
                        <a14:foregroundMark x1="41700" y1="61242" x2="41700" y2="61242"/>
                        <a14:foregroundMark x1="69323" y1="47315" x2="69323" y2="47315"/>
                        <a14:foregroundMark x1="67596" y1="62416" x2="67596" y2="62416"/>
                        <a14:foregroundMark x1="72244" y1="9732" x2="72244" y2="9732"/>
                        <a14:foregroundMark x1="45817" y1="5201" x2="45817" y2="520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18086" y="2158843"/>
            <a:ext cx="4676755" cy="370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626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2551</TotalTime>
  <Words>756</Words>
  <Application>Microsoft Office PowerPoint</Application>
  <PresentationFormat>Widescreen</PresentationFormat>
  <Paragraphs>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Acme</vt:lpstr>
      <vt:lpstr>Aptos</vt:lpstr>
      <vt:lpstr>Arial</vt:lpstr>
      <vt:lpstr>Arial Rounded MT Bold</vt:lpstr>
      <vt:lpstr>Calibri</vt:lpstr>
      <vt:lpstr>Calibri Light</vt:lpstr>
      <vt:lpstr>Courier New</vt:lpstr>
      <vt:lpstr>Segoe UI Variable Display</vt:lpstr>
      <vt:lpstr>Söhne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Salvia Dsouza</dc:creator>
  <cp:lastModifiedBy>Salvia Dsouza</cp:lastModifiedBy>
  <cp:revision>4</cp:revision>
  <dcterms:created xsi:type="dcterms:W3CDTF">2024-02-05T13:09:18Z</dcterms:created>
  <dcterms:modified xsi:type="dcterms:W3CDTF">2024-05-18T06:04:49Z</dcterms:modified>
</cp:coreProperties>
</file>